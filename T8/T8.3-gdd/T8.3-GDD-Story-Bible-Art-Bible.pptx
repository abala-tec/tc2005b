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Neuromax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220DAA-905C-D6B4-1BE5-F75CF703FAC8}" v="279" dt="2026-10-22T14:56:39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onso Balandra Antelis" userId="S::abala@tec.mx::28ba9e3f-8dae-4bf5-851d-5bb8a2fa86a5" providerId="AD" clId="Web-{D1220DAA-905C-D6B4-1BE5-F75CF703FAC8}"/>
    <pc:docChg chg="modSld">
      <pc:chgData name="Alfonso Balandra Antelis" userId="S::abala@tec.mx::28ba9e3f-8dae-4bf5-851d-5bb8a2fa86a5" providerId="AD" clId="Web-{D1220DAA-905C-D6B4-1BE5-F75CF703FAC8}" dt="2026-10-22T14:56:39.847" v="277"/>
      <pc:docMkLst>
        <pc:docMk/>
      </pc:docMkLst>
      <pc:sldChg chg="modSp">
        <pc:chgData name="Alfonso Balandra Antelis" userId="S::abala@tec.mx::28ba9e3f-8dae-4bf5-851d-5bb8a2fa86a5" providerId="AD" clId="Web-{D1220DAA-905C-D6B4-1BE5-F75CF703FAC8}" dt="2026-10-22T14:49:44.758" v="20" actId="1076"/>
        <pc:sldMkLst>
          <pc:docMk/>
          <pc:sldMk cId="0" sldId="265"/>
        </pc:sldMkLst>
        <pc:spChg chg="mod">
          <ac:chgData name="Alfonso Balandra Antelis" userId="S::abala@tec.mx::28ba9e3f-8dae-4bf5-851d-5bb8a2fa86a5" providerId="AD" clId="Web-{D1220DAA-905C-D6B4-1BE5-F75CF703FAC8}" dt="2026-10-22T14:49:31.742" v="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33" v="16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51" v="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1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31.742" v="1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49" v="17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2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3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31.742" v="12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80" v="18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4"/>
          <ac:spMkLst>
            <pc:docMk/>
            <pc:sldMk cId="0" sldId="265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31.742" v="14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1.696" v="19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5.867" v="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16.008" v="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49:44.758" v="20" actId="1076"/>
          <ac:spMkLst>
            <pc:docMk/>
            <pc:sldMk cId="0" sldId="265"/>
            <ac:spMk id="32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0:41.729" v="35"/>
        <pc:sldMkLst>
          <pc:docMk/>
          <pc:sldMk cId="0" sldId="266"/>
        </pc:sldMkLst>
        <pc:spChg chg="mod">
          <ac:chgData name="Alfonso Balandra Antelis" userId="S::abala@tec.mx::28ba9e3f-8dae-4bf5-851d-5bb8a2fa86a5" providerId="AD" clId="Web-{D1220DAA-905C-D6B4-1BE5-F75CF703FAC8}" dt="2026-10-22T14:50:03.337" v="21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15.931" v="28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03.337" v="23"/>
          <ac:spMkLst>
            <pc:docMk/>
            <pc:sldMk cId="0" sldId="266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14.244" v="27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03.337" v="25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18.244" v="29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0"/>
          <ac:spMkLst>
            <pc:docMk/>
            <pc:sldMk cId="0" sldId="266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1"/>
          <ac:spMkLst>
            <pc:docMk/>
            <pc:sldMk cId="0" sldId="266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2"/>
          <ac:spMkLst>
            <pc:docMk/>
            <pc:sldMk cId="0" sldId="266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650" v="33"/>
          <ac:spMkLst>
            <pc:docMk/>
            <pc:sldMk cId="0" sldId="266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29.744" v="34"/>
          <ac:spMkLst>
            <pc:docMk/>
            <pc:sldMk cId="0" sldId="266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41.729" v="35"/>
          <ac:spMkLst>
            <pc:docMk/>
            <pc:sldMk cId="0" sldId="266"/>
            <ac:spMk id="37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1:08.026" v="47" actId="1076"/>
        <pc:sldMkLst>
          <pc:docMk/>
          <pc:sldMk cId="0" sldId="267"/>
        </pc:sldMkLst>
        <pc:spChg chg="mod">
          <ac:chgData name="Alfonso Balandra Antelis" userId="S::abala@tec.mx::28ba9e3f-8dae-4bf5-851d-5bb8a2fa86a5" providerId="AD" clId="Web-{D1220DAA-905C-D6B4-1BE5-F75CF703FAC8}" dt="2026-10-22T14:50:56.745" v="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02.276" v="45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38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39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06.307" v="46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41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745" v="42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08.026" v="47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0:56.885" v="44"/>
          <ac:spMkLst>
            <pc:docMk/>
            <pc:sldMk cId="0" sldId="267"/>
            <ac:spMk id="25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1:33.417" v="56" actId="1076"/>
        <pc:sldMkLst>
          <pc:docMk/>
          <pc:sldMk cId="0" sldId="268"/>
        </pc:sldMkLst>
        <pc:spChg chg="mod">
          <ac:chgData name="Alfonso Balandra Antelis" userId="S::abala@tec.mx::28ba9e3f-8dae-4bf5-851d-5bb8a2fa86a5" providerId="AD" clId="Web-{D1220DAA-905C-D6B4-1BE5-F75CF703FAC8}" dt="2026-10-22T14:51:20.698" v="48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0.698" v="49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0.745" v="50"/>
          <ac:spMkLst>
            <pc:docMk/>
            <pc:sldMk cId="0" sldId="268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6.324" v="51"/>
          <ac:spMkLst>
            <pc:docMk/>
            <pc:sldMk cId="0" sldId="268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33.402" v="55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26.339" v="53"/>
          <ac:spMkLst>
            <pc:docMk/>
            <pc:sldMk cId="0" sldId="268"/>
            <ac:spMk id="3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33.417" v="56" actId="1076"/>
          <ac:spMkLst>
            <pc:docMk/>
            <pc:sldMk cId="0" sldId="268"/>
            <ac:spMk id="35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2:09.731" v="76" actId="20577"/>
        <pc:sldMkLst>
          <pc:docMk/>
          <pc:sldMk cId="0" sldId="269"/>
        </pc:sldMkLst>
        <pc:spChg chg="mod">
          <ac:chgData name="Alfonso Balandra Antelis" userId="S::abala@tec.mx::28ba9e3f-8dae-4bf5-851d-5bb8a2fa86a5" providerId="AD" clId="Web-{D1220DAA-905C-D6B4-1BE5-F75CF703FAC8}" dt="2026-10-22T14:51:40.465" v="5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58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59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0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2"/>
          <ac:spMkLst>
            <pc:docMk/>
            <pc:sldMk cId="0" sldId="26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465" v="6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1:40.621" v="64"/>
          <ac:spMkLst>
            <pc:docMk/>
            <pc:sldMk cId="0" sldId="269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09.731" v="76" actId="20577"/>
          <ac:spMkLst>
            <pc:docMk/>
            <pc:sldMk cId="0" sldId="269"/>
            <ac:spMk id="21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3:18.498" v="132" actId="1076"/>
        <pc:sldMkLst>
          <pc:docMk/>
          <pc:sldMk cId="0" sldId="271"/>
        </pc:sldMkLst>
        <pc:spChg chg="mod">
          <ac:chgData name="Alfonso Balandra Antelis" userId="S::abala@tec.mx::28ba9e3f-8dae-4bf5-851d-5bb8a2fa86a5" providerId="AD" clId="Web-{D1220DAA-905C-D6B4-1BE5-F75CF703FAC8}" dt="2026-10-22T14:52:57.654" v="109"/>
          <ac:spMkLst>
            <pc:docMk/>
            <pc:sldMk cId="0" sldId="271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248" v="12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497" v="93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497" v="94"/>
          <ac:spMkLst>
            <pc:docMk/>
            <pc:sldMk cId="0" sldId="271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1"/>
          <ac:spMkLst>
            <pc:docMk/>
            <pc:sldMk cId="0" sldId="271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279" v="126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497" v="95"/>
          <ac:spMkLst>
            <pc:docMk/>
            <pc:sldMk cId="0" sldId="271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3"/>
          <ac:spMkLst>
            <pc:docMk/>
            <pc:sldMk cId="0" sldId="271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326" v="127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8"/>
          <ac:spMkLst>
            <pc:docMk/>
            <pc:sldMk cId="0" sldId="271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5"/>
          <ac:spMkLst>
            <pc:docMk/>
            <pc:sldMk cId="0" sldId="271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358" v="128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99"/>
          <ac:spMkLst>
            <pc:docMk/>
            <pc:sldMk cId="0" sldId="271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0"/>
          <ac:spMkLst>
            <pc:docMk/>
            <pc:sldMk cId="0" sldId="271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54" v="117"/>
          <ac:spMkLst>
            <pc:docMk/>
            <pc:sldMk cId="0" sldId="271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389" v="129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1"/>
          <ac:spMkLst>
            <pc:docMk/>
            <pc:sldMk cId="0" sldId="271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2"/>
          <ac:spMkLst>
            <pc:docMk/>
            <pc:sldMk cId="0" sldId="271"/>
            <ac:spMk id="3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70" v="119"/>
          <ac:spMkLst>
            <pc:docMk/>
            <pc:sldMk cId="0" sldId="271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420" v="130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3"/>
          <ac:spMkLst>
            <pc:docMk/>
            <pc:sldMk cId="0" sldId="271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4"/>
          <ac:spMkLst>
            <pc:docMk/>
            <pc:sldMk cId="0" sldId="271"/>
            <ac:spMk id="3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70" v="121"/>
          <ac:spMkLst>
            <pc:docMk/>
            <pc:sldMk cId="0" sldId="271"/>
            <ac:spMk id="4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467" v="131" actId="1076"/>
          <ac:spMkLst>
            <pc:docMk/>
            <pc:sldMk cId="0" sldId="271"/>
            <ac:spMk id="4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5"/>
          <ac:spMkLst>
            <pc:docMk/>
            <pc:sldMk cId="0" sldId="271"/>
            <ac:spMk id="4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57.670" v="123"/>
          <ac:spMkLst>
            <pc:docMk/>
            <pc:sldMk cId="0" sldId="271"/>
            <ac:spMk id="4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18.498" v="132" actId="1076"/>
          <ac:spMkLst>
            <pc:docMk/>
            <pc:sldMk cId="0" sldId="271"/>
            <ac:spMk id="4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513" v="107"/>
          <ac:spMkLst>
            <pc:docMk/>
            <pc:sldMk cId="0" sldId="271"/>
            <ac:spMk id="4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2:39.888" v="108"/>
          <ac:spMkLst>
            <pc:docMk/>
            <pc:sldMk cId="0" sldId="271"/>
            <ac:spMk id="4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4:01.640" v="156" actId="1076"/>
        <pc:sldMkLst>
          <pc:docMk/>
          <pc:sldMk cId="0" sldId="273"/>
        </pc:sldMkLst>
        <pc:spChg chg="mod">
          <ac:chgData name="Alfonso Balandra Antelis" userId="S::abala@tec.mx::28ba9e3f-8dae-4bf5-851d-5bb8a2fa86a5" providerId="AD" clId="Web-{D1220DAA-905C-D6B4-1BE5-F75CF703FAC8}" dt="2026-10-22T14:54:01.546" v="151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562" v="152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4"/>
          <ac:spMkLst>
            <pc:docMk/>
            <pc:sldMk cId="0" sldId="273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4.264" v="144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4.280" v="145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39"/>
          <ac:spMkLst>
            <pc:docMk/>
            <pc:sldMk cId="0" sldId="273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31.592" v="140"/>
          <ac:spMkLst>
            <pc:docMk/>
            <pc:sldMk cId="0" sldId="273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4.296" v="146" actId="107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9.140" v="147" actId="107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49.155" v="148" actId="107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3:53.796" v="149"/>
          <ac:spMkLst>
            <pc:docMk/>
            <pc:sldMk cId="0" sldId="273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593" v="153" actId="1076"/>
          <ac:spMkLst>
            <pc:docMk/>
            <pc:sldMk cId="0" sldId="273"/>
            <ac:spMk id="30" creationId="{F5806737-477A-5976-7F99-1ADB04671CA5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609" v="154" actId="1076"/>
          <ac:spMkLst>
            <pc:docMk/>
            <pc:sldMk cId="0" sldId="273"/>
            <ac:spMk id="31" creationId="{868A6E22-AEE8-D0DA-FAF4-E3599B96CD5D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624" v="155" actId="1076"/>
          <ac:spMkLst>
            <pc:docMk/>
            <pc:sldMk cId="0" sldId="273"/>
            <ac:spMk id="34" creationId="{A4E2FD80-938F-6558-83C8-BA7BFEF0BC27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640" v="156" actId="1076"/>
          <ac:spMkLst>
            <pc:docMk/>
            <pc:sldMk cId="0" sldId="273"/>
            <ac:spMk id="35" creationId="{7BF65651-CF66-C4C2-E63C-EDD27D19223E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01.530" v="150" actId="1076"/>
          <ac:spMkLst>
            <pc:docMk/>
            <pc:sldMk cId="0" sldId="273"/>
            <ac:spMk id="36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4:40.266" v="204" actId="1076"/>
        <pc:sldMkLst>
          <pc:docMk/>
          <pc:sldMk cId="0" sldId="274"/>
        </pc:sldMkLst>
        <pc:spChg chg="mod">
          <ac:chgData name="Alfonso Balandra Antelis" userId="S::abala@tec.mx::28ba9e3f-8dae-4bf5-851d-5bb8a2fa86a5" providerId="AD" clId="Web-{D1220DAA-905C-D6B4-1BE5-F75CF703FAC8}" dt="2026-10-22T14:54:25.344" v="177"/>
          <ac:spMkLst>
            <pc:docMk/>
            <pc:sldMk cId="0" sldId="274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78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03" v="201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31" v="197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1"/>
          <ac:spMkLst>
            <pc:docMk/>
            <pc:sldMk cId="0" sldId="274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2"/>
          <ac:spMkLst>
            <pc:docMk/>
            <pc:sldMk cId="0" sldId="274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19" v="202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47" v="198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5"/>
          <ac:spMkLst>
            <pc:docMk/>
            <pc:sldMk cId="0" sldId="274"/>
            <ac:spMk id="2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50" v="203" actId="107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62" v="199" actId="1076"/>
          <ac:spMkLst>
            <pc:docMk/>
            <pc:sldMk cId="0" sldId="274"/>
            <ac:spMk id="2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89"/>
          <ac:spMkLst>
            <pc:docMk/>
            <pc:sldMk cId="0" sldId="274"/>
            <ac:spMk id="2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90"/>
          <ac:spMkLst>
            <pc:docMk/>
            <pc:sldMk cId="0" sldId="274"/>
            <ac:spMk id="3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40.266" v="204" actId="107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35.078" v="200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44" v="193"/>
          <ac:spMkLst>
            <pc:docMk/>
            <pc:sldMk cId="0" sldId="274"/>
            <ac:spMk id="3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59" v="194"/>
          <ac:spMkLst>
            <pc:docMk/>
            <pc:sldMk cId="0" sldId="274"/>
            <ac:spMk id="3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359" v="195"/>
          <ac:spMkLst>
            <pc:docMk/>
            <pc:sldMk cId="0" sldId="274"/>
            <ac:spMk id="3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4:25.765" v="196"/>
          <ac:spMkLst>
            <pc:docMk/>
            <pc:sldMk cId="0" sldId="274"/>
            <ac:spMk id="3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4:59.141" v="223"/>
        <pc:sldMkLst>
          <pc:docMk/>
          <pc:sldMk cId="0" sldId="275"/>
        </pc:sldMkLst>
        <pc:graphicFrameChg chg="mod modGraphic">
          <ac:chgData name="Alfonso Balandra Antelis" userId="S::abala@tec.mx::28ba9e3f-8dae-4bf5-851d-5bb8a2fa86a5" providerId="AD" clId="Web-{D1220DAA-905C-D6B4-1BE5-F75CF703FAC8}" dt="2026-10-22T14:54:59.141" v="223"/>
          <ac:graphicFrameMkLst>
            <pc:docMk/>
            <pc:sldMk cId="0" sldId="275"/>
            <ac:graphicFrameMk id="9" creationId="{00000000-0000-0000-0000-000000000000}"/>
          </ac:graphicFrameMkLst>
        </pc:graphicFrameChg>
      </pc:sldChg>
      <pc:sldChg chg="modSp">
        <pc:chgData name="Alfonso Balandra Antelis" userId="S::abala@tec.mx::28ba9e3f-8dae-4bf5-851d-5bb8a2fa86a5" providerId="AD" clId="Web-{D1220DAA-905C-D6B4-1BE5-F75CF703FAC8}" dt="2026-10-22T14:55:37.158" v="235"/>
        <pc:sldMkLst>
          <pc:docMk/>
          <pc:sldMk cId="0" sldId="277"/>
        </pc:sldMkLst>
        <pc:spChg chg="mod">
          <ac:chgData name="Alfonso Balandra Antelis" userId="S::abala@tec.mx::28ba9e3f-8dae-4bf5-851d-5bb8a2fa86a5" providerId="AD" clId="Web-{D1220DAA-905C-D6B4-1BE5-F75CF703FAC8}" dt="2026-10-22T14:55:20.235" v="22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6.876" v="232"/>
          <ac:spMkLst>
            <pc:docMk/>
            <pc:sldMk cId="0" sldId="277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6.876" v="233"/>
          <ac:spMkLst>
            <pc:docMk/>
            <pc:sldMk cId="0" sldId="277"/>
            <ac:spMk id="1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6.876" v="234"/>
          <ac:spMkLst>
            <pc:docMk/>
            <pc:sldMk cId="0" sldId="277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37.158" v="235"/>
          <ac:spMkLst>
            <pc:docMk/>
            <pc:sldMk cId="0" sldId="277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5:28.204" v="227" actId="1076"/>
          <ac:spMkLst>
            <pc:docMk/>
            <pc:sldMk cId="0" sldId="277"/>
            <ac:spMk id="33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6:25.206" v="255" actId="1076"/>
        <pc:sldMkLst>
          <pc:docMk/>
          <pc:sldMk cId="0" sldId="279"/>
        </pc:sldMkLst>
        <pc:spChg chg="mod">
          <ac:chgData name="Alfonso Balandra Antelis" userId="S::abala@tec.mx::28ba9e3f-8dae-4bf5-851d-5bb8a2fa86a5" providerId="AD" clId="Web-{D1220DAA-905C-D6B4-1BE5-F75CF703FAC8}" dt="2026-10-22T14:56:08.830" v="244"/>
          <ac:spMkLst>
            <pc:docMk/>
            <pc:sldMk cId="0" sldId="279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5"/>
          <ac:spMkLst>
            <pc:docMk/>
            <pc:sldMk cId="0" sldId="279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143" v="252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7"/>
          <ac:spMkLst>
            <pc:docMk/>
            <pc:sldMk cId="0" sldId="279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159" v="253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8"/>
          <ac:spMkLst>
            <pc:docMk/>
            <pc:sldMk cId="0" sldId="279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49"/>
          <ac:spMkLst>
            <pc:docMk/>
            <pc:sldMk cId="0" sldId="279"/>
            <ac:spMk id="2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8.846" v="250"/>
          <ac:spMkLst>
            <pc:docMk/>
            <pc:sldMk cId="0" sldId="279"/>
            <ac:spMk id="2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174" v="254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09.002" v="251"/>
          <ac:spMkLst>
            <pc:docMk/>
            <pc:sldMk cId="0" sldId="279"/>
            <ac:spMk id="2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25.206" v="255" actId="1076"/>
          <ac:spMkLst>
            <pc:docMk/>
            <pc:sldMk cId="0" sldId="279"/>
            <ac:spMk id="28" creationId="{00000000-0000-0000-0000-000000000000}"/>
          </ac:spMkLst>
        </pc:spChg>
      </pc:sldChg>
      <pc:sldChg chg="modSp">
        <pc:chgData name="Alfonso Balandra Antelis" userId="S::abala@tec.mx::28ba9e3f-8dae-4bf5-851d-5bb8a2fa86a5" providerId="AD" clId="Web-{D1220DAA-905C-D6B4-1BE5-F75CF703FAC8}" dt="2026-10-22T14:56:39.847" v="277"/>
        <pc:sldMkLst>
          <pc:docMk/>
          <pc:sldMk cId="0" sldId="280"/>
        </pc:sldMkLst>
        <pc:spChg chg="mod">
          <ac:chgData name="Alfonso Balandra Antelis" userId="S::abala@tec.mx::28ba9e3f-8dae-4bf5-851d-5bb8a2fa86a5" providerId="AD" clId="Web-{D1220DAA-905C-D6B4-1BE5-F75CF703FAC8}" dt="2026-10-22T14:56:39.472" v="267"/>
          <ac:spMkLst>
            <pc:docMk/>
            <pc:sldMk cId="0" sldId="280"/>
            <ac:spMk id="9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72" v="268"/>
          <ac:spMkLst>
            <pc:docMk/>
            <pc:sldMk cId="0" sldId="280"/>
            <ac:spMk id="10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69"/>
          <ac:spMkLst>
            <pc:docMk/>
            <pc:sldMk cId="0" sldId="280"/>
            <ac:spMk id="11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0"/>
          <ac:spMkLst>
            <pc:docMk/>
            <pc:sldMk cId="0" sldId="280"/>
            <ac:spMk id="12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1"/>
          <ac:spMkLst>
            <pc:docMk/>
            <pc:sldMk cId="0" sldId="280"/>
            <ac:spMk id="13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2"/>
          <ac:spMkLst>
            <pc:docMk/>
            <pc:sldMk cId="0" sldId="280"/>
            <ac:spMk id="14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3"/>
          <ac:spMkLst>
            <pc:docMk/>
            <pc:sldMk cId="0" sldId="280"/>
            <ac:spMk id="15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4"/>
          <ac:spMkLst>
            <pc:docMk/>
            <pc:sldMk cId="0" sldId="280"/>
            <ac:spMk id="16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5"/>
          <ac:spMkLst>
            <pc:docMk/>
            <pc:sldMk cId="0" sldId="280"/>
            <ac:spMk id="17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487" v="2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Alfonso Balandra Antelis" userId="S::abala@tec.mx::28ba9e3f-8dae-4bf5-851d-5bb8a2fa86a5" providerId="AD" clId="Web-{D1220DAA-905C-D6B4-1BE5-F75CF703FAC8}" dt="2026-10-22T14:56:39.847" v="277"/>
          <ac:spMkLst>
            <pc:docMk/>
            <pc:sldMk cId="0" sldId="280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0BBB3-2B43-481D-B823-02BA206301EB}" type="datetimeFigureOut">
              <a:t>22/10/2026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4E24F-D9B7-4F1A-80FA-E74B2D77F25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346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al tema 8.3. Hoy vamos a definir el GDD de otra forma: no como una plantilla que se llena, sino como un conjunto de documentos que existen para recordar y comunicar. La base es el capítulo «The Team Sometimes Communicates Through Documents» de The Art of Game Design, de Jesse Schell, y la Lente de la Documentación. La pregunta central de la sesión es: ¿qué necesitamos recordar y qué necesitamos comunicar en este juego?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Schell escribe en el capítulo «The Team Sometimes Communicates Through Documents»: «The magic template does not exist!». No hay una plantilla mágica que convierta una idea en un GDD perfecto. Los documentos de un juego tienen exactamente dos propósitos: memoria y comunicación. Memoria para no olvidar las decisiones; comunicación para que el equipo las entienda y las mejore. Cada juego y cada equipo necesitan documentos distintos. Por eso no vamos a aprender una plantilla: vamos a aprender a decidir qué documentos necesitamos.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Schell agrupa los documentos en seis grupos según lo que hay que recordar y comunicar. Diseño: Game Design Overview (pocas páginas, para dirección y equipo), Detailed Design Document (mecánicas e interfaces con detalle) y Story Overview (para escritores). Ingeniería: Technical Design Document, Pipeline Overview y System Limitations. Arte: Art Bible y Concept Art Overview. Gestión: Game Budget y Project Schedule. Escritura: Story Bible, Script y Tutorial/Manual. Jugadores: Game Walkthrough, que escribe la comunidad. El GDD no es uno solo de estos: es la parte de diseño; los demás documentos también existen y son parte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Schell propone empezar con una lista de ideas, no con una plantilla. Esa lista crece con preguntas: todo lo que no sabes. Cuando respondes una pregunta, anotas la decisión y el porqué. Con el tiempo, las ideas, preguntas y decisiones se ordenan solas en secciones. Ese es el GDD. La Regla del Loop dice: cuantas más veces pruebes y mejores el diseño, mejor será el juego. En ingeniería tradicional los requisitos se cierran antes de construir; en un juego, el diseño se prueba y se ajusta. El documento es parte del loop, no el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Lente #90 de Schell, la Lente de la Documentación, hace dos preguntas: ¿qué necesitamos recordar mientras hacemos este juego? y ¿qué necesitamos comunicar mientras hacemos este juego? Esas dos preguntas deciden qué documentos escribir y cuáles no. Un documento que no ayuda a recordar ni a comunicar es burocracia. Esta lente es el filtro para todo 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pitch es una frase: género, público, fantasía y mecánica. Los pilares son tres a cinco ideas que no se negocian y que resuelven discusiones. El ejemplo de Doom 2016 viene de las entrevistas de id Software: diversión primero, combate como ajedrez, «hazme pensar, hazme mover» y fantasía de poder. En los documentos de Schell, el pitch y los pilares son la primera parte del Game Design Overview, el documento corto que resume el juego para dirección y para todo el equipo. No son todo el GDD: son la parte de 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Schell divide las mecánicas en seis categorías: espacio, objetos, acciones, reglas, habilidad y azar. En Cometa Rota: el espacio son las islas flotantes; los objetos son los cristales y el cofre; las acciones son correr, saltar y recoger; las reglas son la noche que cierra el camino; la habilidad es el timing del salto; el azar es el viento. No diseñes una pieza aislada: cambia una y cambia el juego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loop es lo que el jugador repite: explorar, combatir, recibir una recompensa y mejorar. En Cometa Rota: correr, saltar, recoger y volver al faro. La progresión es lo que cambia entre partidas: una isla nueva, una ruta nueva. Los controles son lo que el jugador puede hacer y cómo se siente. La victoria y la derrota deben ser condiciones observables y justas: llegar al faro antes del anochecer, caer al vacío o quedarse sin luz.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mundo no es decorado: sus reglas afectan el gameplay. En Cometa Rota, la noche cierra el camino y el faro se apaga; eso crea prisa. El personaje tiene un deseo (llegar), una necesidad (confiar) y un miedo (quedarse sin luz). Schell distingue dos documentos: el Story Overview, un documento corto con escenarios, personajes y acciones para los escritores; y la Story Bible, que define qué es posible y qué no en el mundo de la historia. El GDD de diseño no reemplaza a ninguno de los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Art Bible es uno de los documentos del grupo de arte de Schell: da guías para que varios artistas mantengan un look consistente. Incluye paleta, siluetas, proporciones, luz, animación, UI y una lista de «no hacer». La animación no decora: comunica velocidad, peligro y personalidad. Battletoads exagera los golpes; Cuphead imita el cartoon de los años 30; Pizza Tower usa la deformación y la velocidad. Videos:</a:t>
            </a:r>
          </a:p>
          <a:p>
            <a:r>
              <a:t>- Cuphead Launch Trailer (Xbox): https://www.youtube.com/watch?v=7jvRoNPBHjk</a:t>
            </a:r>
          </a:p>
          <a:p>
            <a:r>
              <a:t>- Pizza Tower Steam Trailer: https://www.youtube.com/watch?v=Wlq6fFOqI28</a:t>
            </a:r>
          </a:p>
          <a:p>
            <a:r>
              <a:t>- Battletoads NES Gameplay: https://www.youtube.com/watch?v=iqyeq7iC5YY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Schell incluye en el grupo de ingeniería tres documentos: Technical Design Document (cómo se construye el juego), Pipeline Overview (cómo se integran los assets: formatos, nombres, pasos) y System Limitations (qué límites no se pueden cruzar: polígonos, memoria, frames). No son el GDD, pero el equipo los necesita. Para elegir herramientas, mira plataforma, lenguaje, licencia/costo y si el equipo ya las sabe usar. Una herramienta mal elegida genera sobreingeniería, pasos manuales y costos altos; cambiarla a mitad del proyecto es un veneno.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en clase: cada equipo escribe su GDD en una hoja, a lápiz. La hoja pide los temas del programa: nombre, género, pitch, pilares, game loop, reglas, meta, objetivo, historia, mundo/personaje, herramientas y una pregunta abierta. No es una plantilla universal: es una restricción del taller para forzar decisiones claras. Según Schell, el GDD real no sale de una plantilla, sino de lo que el equipo necesita recordar y comunicar. Al final, cada equipo presenta un pitch de tres minutos y una pregunta que todavía no sabe responder. Esa pregunta es la siguiente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9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82296"/>
            <a:ext cx="731520" cy="694944"/>
          </a:xfrm>
          <a:prstGeom prst="rect">
            <a:avLst/>
          </a:prstGeom>
        </p:spPr>
      </p:pic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74320"/>
            <a:ext cx="1325880" cy="576072"/>
          </a:xfrm>
          <a:prstGeom prst="rect">
            <a:avLst/>
          </a:prstGeom>
        </p:spPr>
      </p:pic>
      <p:pic>
        <p:nvPicPr>
          <p:cNvPr id="5" name="Picture 4" descr="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72000"/>
            <a:ext cx="822960" cy="1252728"/>
          </a:xfrm>
          <a:prstGeom prst="rect">
            <a:avLst/>
          </a:prstGeom>
        </p:spPr>
      </p:pic>
      <p:pic>
        <p:nvPicPr>
          <p:cNvPr id="6" name="Picture 5" descr="tree-s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251960"/>
            <a:ext cx="960120" cy="1719072"/>
          </a:xfrm>
          <a:prstGeom prst="rect">
            <a:avLst/>
          </a:prstGeom>
        </p:spPr>
      </p:pic>
      <p:pic>
        <p:nvPicPr>
          <p:cNvPr id="7" name="Picture 6" descr="mushr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5532120"/>
            <a:ext cx="502920" cy="301752"/>
          </a:xfrm>
          <a:prstGeom prst="rect">
            <a:avLst/>
          </a:prstGeom>
        </p:spPr>
      </p:pic>
      <p:pic>
        <p:nvPicPr>
          <p:cNvPr id="8" name="Picture 7" descr="gdd_co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502920"/>
            <a:ext cx="5212080" cy="4626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11430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000" b="0">
                <a:solidFill>
                  <a:srgbClr val="131315"/>
                </a:solidFill>
                <a:latin typeface="Neuromax SemBd"/>
              </a:rPr>
              <a:t>CÓMO DEFINIR
UN GDD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3611880"/>
            <a:ext cx="2011680" cy="640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38221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31324A"/>
                </a:solidFill>
                <a:latin typeface="Neuromax"/>
              </a:rPr>
              <a:t>Tema 8.3 · Del documento a la experiencia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61104"/>
            <a:ext cx="5166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4F5361"/>
                </a:solidFill>
                <a:latin typeface="Neuromax"/>
              </a:rPr>
              <a:t>Basado en The Art of Game Design: A Book of Lenses, de Jesse Schell.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8.3.1 · QUÉ ES UN GDD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131315"/>
                </a:solidFill>
                <a:latin typeface="Neuromax SemBd"/>
              </a:rPr>
              <a:t>EL MITO DEL GDD PERFECTO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No existe una plantilla mágica: existen documentos para recordar y comunicar.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6720840" cy="114300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Neuromax SemBd"/>
              </a:rPr>
              <a:t>LA PLANTILLA MÁGICA NO EXISTE.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08A3C"/>
                </a:solidFill>
                <a:latin typeface="Neuromax"/>
              </a:rPr>
              <a:t>«The magic template does not exist!» — Jesse Schell, The Art of Game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71800"/>
            <a:ext cx="6720840" cy="713232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971800"/>
            <a:ext cx="64008" cy="713232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30632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4495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63700"/>
                </a:solidFill>
                <a:latin typeface="Neuromax SemBd"/>
              </a:rPr>
              <a:t>NO HAY PLANTILLA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4495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Cada juego y cada equipo necesitan documentos distintos.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794760"/>
            <a:ext cx="6720840" cy="713232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794760"/>
            <a:ext cx="64008" cy="713232"/>
          </a:xfrm>
          <a:prstGeom prst="rect">
            <a:avLst/>
          </a:prstGeom>
          <a:solidFill>
            <a:srgbClr val="A81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388620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6791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81E49"/>
                </a:solidFill>
                <a:latin typeface="Neuromax SemBd"/>
              </a:rPr>
              <a:t>MEMORIA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6791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Registrar decisiones para no resolver lo mismo dos veces.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6720840" cy="713232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4617720"/>
            <a:ext cx="64008" cy="713232"/>
          </a:xfrm>
          <a:prstGeom prst="rect">
            <a:avLst/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4709159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E7A2E"/>
                </a:solidFill>
                <a:latin typeface="Neuromax SemB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908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4E7A2E"/>
                </a:solidFill>
                <a:latin typeface="Neuromax SemBd"/>
              </a:rPr>
              <a:t>COMUNICACIÓN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6908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Hacer que el equipo entienda y mejore el diseño.</a:t>
            </a:r>
          </a:p>
        </p:txBody>
      </p:sp>
      <p:pic>
        <p:nvPicPr>
          <p:cNvPr id="25" name="Picture 24" descr="gdd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8760"/>
            <a:ext cx="4069080" cy="34747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5412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Un GDD no es un formato: es una herramienta de memoria y comunicación.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8.3.1 · DOCUMENTOS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>
                <a:solidFill>
                  <a:srgbClr val="131315"/>
                </a:solidFill>
                <a:latin typeface="Neuromax SemBd"/>
              </a:rPr>
              <a:t>SEIS GRUPOS DE DOCUMENTOS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No todo va en un solo GDD: cada grupo recuerda y comunica cosas distintas.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3520440" cy="14630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1463040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7373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31315"/>
                </a:solidFill>
                <a:latin typeface="Neuromax SemBd"/>
              </a:rPr>
              <a:t>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574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Game Design Overview · Detailed Design Doc. · Story Overview.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700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Qué es el juego y cómo se juega.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645920"/>
            <a:ext cx="3520440" cy="14630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42816" y="1645920"/>
            <a:ext cx="64008" cy="1463040"/>
          </a:xfrm>
          <a:prstGeom prst="rect">
            <a:avLst/>
          </a:prstGeom>
          <a:solidFill>
            <a:srgbClr val="A81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71416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3" y="17373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31315"/>
                </a:solidFill>
                <a:latin typeface="Neuromax SemBd"/>
              </a:rPr>
              <a:t>INGENIERÍA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0574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Technical Design Doc. · Pipeline Overview · System Limitations.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6700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Cómo se construye y qué límites hay.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18703" y="1645920"/>
            <a:ext cx="3520440" cy="14630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18703" y="1645920"/>
            <a:ext cx="64008" cy="1463040"/>
          </a:xfrm>
          <a:prstGeom prst="rect">
            <a:avLst/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47303" y="17556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E7A2E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17373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31315"/>
                </a:solidFill>
                <a:latin typeface="Neuromax SemBd"/>
              </a:rPr>
              <a:t>ARTE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3" y="20574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Art Bible · Concept Art Overview.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3" y="26700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Cómo se ve y cómo se produce.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46120"/>
            <a:ext cx="3520440" cy="14630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3246120"/>
            <a:ext cx="64008" cy="146304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8" y="33558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F3C7E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3337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31315"/>
                </a:solidFill>
                <a:latin typeface="Neuromax SemBd"/>
              </a:rPr>
              <a:t>GESTIÓN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6576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Game Budget · Project Schedule.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2702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Cuánto cuesta y cuándo se entrega.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3246120"/>
            <a:ext cx="3520440" cy="14630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242816" y="3246120"/>
            <a:ext cx="64008" cy="1463040"/>
          </a:xfrm>
          <a:prstGeom prst="rect">
            <a:avLst/>
          </a:prstGeom>
          <a:solidFill>
            <a:srgbClr val="B54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71416" y="33558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B54A0E"/>
                </a:solidFill>
                <a:latin typeface="Neuromax SemB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01183" y="3337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31315"/>
                </a:solidFill>
                <a:latin typeface="Neuromax SemBd"/>
              </a:rPr>
              <a:t>ESCRITURA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36576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Story Bible · Script · Tutorial/Manual.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6" y="42702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Qué es canon y cómo se cuenta.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18703" y="3246120"/>
            <a:ext cx="3520440" cy="14630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918703" y="3246120"/>
            <a:ext cx="64008" cy="1463040"/>
          </a:xfrm>
          <a:prstGeom prst="rect">
            <a:avLst/>
          </a:prstGeom>
          <a:solidFill>
            <a:srgbClr val="D7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47303" y="335584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D7265E"/>
                </a:solidFill>
                <a:latin typeface="Neuromax SemBd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33375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31315"/>
                </a:solidFill>
                <a:latin typeface="Neuromax SemBd"/>
              </a:rPr>
              <a:t>JUGADORES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3" y="36576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Walkthrough: lo que la comunidad documenta.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7303" y="42702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Qué entienden y qué les falta.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07492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" y="51755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El GDD es la parte de diseño; no reemplaza a los otros documentos.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8.3.1 ·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131315"/>
                </a:solidFill>
                <a:latin typeface="Neuromax SemBd"/>
              </a:rPr>
              <a:t>EMPIEZA CON UNA LISTA, NO CON UN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Schell: escribe ideas, preguntas y decisiones; las secciones aparecen después.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760720" cy="749808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7498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190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63700"/>
                </a:solidFill>
                <a:latin typeface="Neuromax SemBd"/>
              </a:rPr>
              <a:t>LISTA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71907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Apunta las ideas que quieres incluir.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14600"/>
            <a:ext cx="5760720" cy="749808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514600"/>
            <a:ext cx="64008" cy="7498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26060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8775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63700"/>
                </a:solidFill>
                <a:latin typeface="Neuromax SemBd"/>
              </a:rPr>
              <a:t>PREGUNTAS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58775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Anota todo lo que no sabes.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383280"/>
            <a:ext cx="5760720" cy="749808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6928" y="3383280"/>
            <a:ext cx="64008" cy="7498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34747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5643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63700"/>
                </a:solidFill>
                <a:latin typeface="Neuromax SemBd"/>
              </a:rPr>
              <a:t>DECISIONES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5643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Escribe la decisión y el porqué.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51959"/>
            <a:ext cx="5760720" cy="749808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4251959"/>
            <a:ext cx="64008" cy="749808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4343399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251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63700"/>
                </a:solidFill>
                <a:latin typeface="Neuromax SemBd"/>
              </a:rPr>
              <a:t>SECCIONES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32511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El documento crece y se ordena solo.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1645920"/>
            <a:ext cx="5074920" cy="23317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12280" y="178308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08A3C"/>
                </a:solidFill>
                <a:latin typeface="Neuromax SemBd"/>
              </a:rPr>
              <a:t>REGLA DEL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10312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euromax SemBd"/>
              </a:rPr>
              <a:t>Cuantas más veces pruebes y mejores el diseño, mejor será el juego.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06324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08A3C"/>
                </a:solidFill>
                <a:latin typeface="Neuromax"/>
              </a:rPr>
              <a:t>— Jesse Schell, The Art of Game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3832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Neuromax"/>
              </a:rPr>
              <a:t>El documento es parte del loop, no el final.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160520"/>
            <a:ext cx="5074920" cy="10515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66560" y="4279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A81E49"/>
                </a:solidFill>
                <a:latin typeface="Neuromax SemBd"/>
              </a:rPr>
              <a:t>INGENIERÍA TRADICIONAL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526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Requisitos cerrados antes de construir.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2793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E7A2E"/>
                </a:solidFill>
                <a:latin typeface="Neuromax SemBd"/>
              </a:rPr>
              <a:t>JUEGO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Probar, observar, ajustar.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60" y="55412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Un juego no se especifica completo antes de jugarlo.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8.3.1 · LENTE #90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131315"/>
                </a:solidFill>
                <a:latin typeface="Neuromax SemBd"/>
              </a:rPr>
              <a:t>LA LENTE DE LA DOCUMENTACIÓN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Dos preguntas para decidir qué escribir y qué no.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783080"/>
            <a:ext cx="2286000" cy="228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63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963700"/>
                </a:solidFill>
                <a:latin typeface="Neuromax SemBd"/>
              </a:rPr>
              <a:t>90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3794760"/>
            <a:ext cx="1097280" cy="960120"/>
          </a:xfrm>
          <a:prstGeom prst="line">
            <a:avLst/>
          </a:prstGeom>
          <a:ln w="152400">
            <a:solidFill>
              <a:srgbClr val="963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4251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LENTE #90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83080"/>
            <a:ext cx="6903720" cy="12344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663440" y="1783080"/>
            <a:ext cx="64008" cy="123444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37760" y="1920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963700"/>
                </a:solidFill>
                <a:latin typeface="Neuromax SemBd"/>
              </a:rPr>
              <a:t>¿QUÉ NECESITAMOS RECORDAR?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6771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31315"/>
                </a:solidFill>
                <a:latin typeface="Neuromax"/>
              </a:rPr>
              <a:t>Decisiones, reglas, números y pendientes.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200400"/>
            <a:ext cx="6903720" cy="12344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663440" y="3200400"/>
            <a:ext cx="64008" cy="1234440"/>
          </a:xfrm>
          <a:prstGeom prst="rect">
            <a:avLst/>
          </a:prstGeom>
          <a:solidFill>
            <a:srgbClr val="D7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37760" y="3337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1E49"/>
                </a:solidFill>
                <a:latin typeface="Neuromax SemBd"/>
              </a:rPr>
              <a:t>¿QUÉ NECESITAMOS COMUNICAR?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68503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31315"/>
                </a:solidFill>
                <a:latin typeface="Neuromax"/>
              </a:rPr>
              <a:t>A programación, arte, audio, QA y producción.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617720"/>
            <a:ext cx="6903720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37760" y="47091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Neuromax SemBd"/>
              </a:rPr>
              <a:t>Si un documento no ayuda a recordar o a comunicar, sobra.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8.3.3 · PITCH Y PILARES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131315"/>
                </a:solidFill>
                <a:latin typeface="Neuromax SemBd"/>
              </a:rPr>
              <a:t>PITCH Y PILARES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Una frase para vender el juego; tres a cinco ideas para decidir.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394960" cy="17373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173736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PITCH · UNA FRASE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574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31315"/>
                </a:solidFill>
                <a:latin typeface="Neuromax"/>
              </a:rPr>
              <a:t xml:space="preserve">Un </a:t>
            </a:r>
            <a:r>
              <a:rPr sz="1300" b="0">
                <a:solidFill>
                  <a:srgbClr val="B54A0E"/>
                </a:solidFill>
                <a:latin typeface="Neuromax SemBd"/>
              </a:rPr>
              <a:t>[género]</a:t>
            </a:r>
            <a:r>
              <a:rPr sz="1300" b="0">
                <a:solidFill>
                  <a:srgbClr val="131315"/>
                </a:solidFill>
                <a:latin typeface="Neuromax"/>
              </a:rPr>
              <a:t xml:space="preserve"> para </a:t>
            </a:r>
            <a:r>
              <a:rPr sz="1300" b="0">
                <a:solidFill>
                  <a:srgbClr val="A81E49"/>
                </a:solidFill>
                <a:latin typeface="Neuromax SemBd"/>
              </a:rPr>
              <a:t>[público]</a:t>
            </a:r>
            <a:r>
              <a:rPr sz="1300" b="0">
                <a:solidFill>
                  <a:srgbClr val="131315"/>
                </a:solidFill>
                <a:latin typeface="Neuromax"/>
              </a:rPr>
              <a:t xml:space="preserve"> donde </a:t>
            </a:r>
            <a:r>
              <a:rPr sz="1300" b="0">
                <a:solidFill>
                  <a:srgbClr val="4E7A2E"/>
                </a:solidFill>
                <a:latin typeface="Neuromax SemBd"/>
              </a:rPr>
              <a:t>[fantasía]</a:t>
            </a:r>
            <a:r>
              <a:rPr sz="1300" b="0">
                <a:solidFill>
                  <a:srgbClr val="131315"/>
                </a:solidFill>
                <a:latin typeface="Neuromax"/>
              </a:rPr>
              <a:t xml:space="preserve"> mediante </a:t>
            </a:r>
            <a:r>
              <a:rPr sz="1300" b="0">
                <a:solidFill>
                  <a:srgbClr val="2F3C7E"/>
                </a:solidFill>
                <a:latin typeface="Neuromax SemBd"/>
              </a:rPr>
              <a:t>[mecánica]</a:t>
            </a:r>
            <a:r>
              <a:rPr sz="1300" b="0">
                <a:solidFill>
                  <a:srgbClr val="131315"/>
                </a:solidFill>
                <a:latin typeface="Neuromax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432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F5361"/>
                </a:solidFill>
                <a:latin typeface="Neuromax"/>
              </a:rPr>
              <a:t>Cometa Rota: un juego de plataformas de un minuto; una repartidora cruza islas flotantes antes del anochecer.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66160"/>
            <a:ext cx="5394960" cy="132588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566160"/>
            <a:ext cx="64008" cy="1325880"/>
          </a:xfrm>
          <a:prstGeom prst="rect">
            <a:avLst/>
          </a:prstGeom>
          <a:solidFill>
            <a:srgbClr val="6FB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E7A2E"/>
                </a:solidFill>
                <a:latin typeface="Neuromax SemBd"/>
              </a:rPr>
              <a:t>GAME DESIGN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77639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Schell: un documento corto para que la dirección y el equipo entiendan el juego. Pitch, pilares, público y plataforma.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5449824" cy="32461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08A3C"/>
                </a:solidFill>
                <a:latin typeface="Neuromax SemBd"/>
              </a:rPr>
              <a:t>PILARES · DOOM (2016)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08A3C"/>
                </a:solidFill>
                <a:latin typeface="Neuromax SemB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1305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 SemBd"/>
              </a:rPr>
              <a:t>DIVERSIÓN PRIMERO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77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Neuromax"/>
              </a:rPr>
              <a:t>Si no se siente bien al jugar, se cambia.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07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08A3C"/>
                </a:solidFill>
                <a:latin typeface="Neuromax SemB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88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 SemBd"/>
              </a:rPr>
              <a:t>COMBATE COMO AJEDREZ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358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Neuromax"/>
              </a:rPr>
              <a:t>Enemigos y armas con roles claros.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6557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08A3C"/>
                </a:solidFill>
                <a:latin typeface="Neuromax SemB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44728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 SemBd"/>
              </a:rPr>
              <a:t>HAZME PENSAR, HAZME MOVER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941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Neuromax"/>
              </a:rPr>
              <a:t>Cada encuentro es un problema.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2394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08A3C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056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 SemBd"/>
              </a:rPr>
              <a:t>FANTASÍA DE PODER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35254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Neuromax"/>
              </a:rPr>
              <a:t>Al final, el jugador se siente imparable.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16636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52669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Si una idea no apoya un pilar, se corta o se rediseña.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8.3.4 · MECÁNICAS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131315"/>
                </a:solidFill>
                <a:latin typeface="Neuromax SemBd"/>
              </a:rPr>
              <a:t>MECÁNICAS: LAS SEIS PIEZAS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Schell: espacio, objetos, acciones, reglas, habilidad y azar.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3520440" cy="15087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1508760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7" y="1783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63700"/>
                </a:solidFill>
                <a:latin typeface="Neuromax SemB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556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ESPACIO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1284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¿Dónde ocurre y cómo se recorre?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Ej.: islas flotantes.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645920"/>
            <a:ext cx="3520440" cy="15087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42816" y="1645920"/>
            <a:ext cx="64008" cy="1508760"/>
          </a:xfrm>
          <a:prstGeom prst="rect">
            <a:avLst/>
          </a:prstGeom>
          <a:solidFill>
            <a:srgbClr val="A81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17136" y="1783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81E49"/>
                </a:solidFill>
                <a:latin typeface="Neuromax SemB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17556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OBJETOS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1284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¿Qué hay y cómo se usa?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Ej.: cristales y cofre.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18703" y="1645920"/>
            <a:ext cx="3520440" cy="15087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18703" y="1645920"/>
            <a:ext cx="64008" cy="1508760"/>
          </a:xfrm>
          <a:prstGeom prst="rect">
            <a:avLst/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93023" y="1783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4E7A2E"/>
                </a:solidFill>
                <a:latin typeface="Neuromax SemB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3" y="17556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ACCIONES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221284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¿Qué puede hacer el jugador?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2697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Ej.: correr, saltar, recoger.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91840"/>
            <a:ext cx="3520440" cy="15087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66928" y="3291840"/>
            <a:ext cx="64008" cy="150876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1247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F3C7E"/>
                </a:solidFill>
                <a:latin typeface="Neuromax SemB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4015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REGLAS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8587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¿Qué está permitido y qué no?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Ej.: la noche cierra el camino.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3291840"/>
            <a:ext cx="3520440" cy="15087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242816" y="3291840"/>
            <a:ext cx="64008" cy="1508760"/>
          </a:xfrm>
          <a:prstGeom prst="rect">
            <a:avLst/>
          </a:prstGeom>
          <a:solidFill>
            <a:srgbClr val="B54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17136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B54A0E"/>
                </a:solidFill>
                <a:latin typeface="Neuromax SemB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5776" y="34015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HABILIDAD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38587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¿Qué depende del jugador?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Ej.: timing del salto.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18703" y="3291840"/>
            <a:ext cx="3520440" cy="15087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918703" y="3291840"/>
            <a:ext cx="64008" cy="1508760"/>
          </a:xfrm>
          <a:prstGeom prst="rect">
            <a:avLst/>
          </a:prstGeom>
          <a:solidFill>
            <a:srgbClr val="D72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93023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D7265E"/>
                </a:solidFill>
                <a:latin typeface="Neuromax SemBd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3" y="34015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31315"/>
                </a:solidFill>
                <a:latin typeface="Neuromax SemBd"/>
              </a:rPr>
              <a:t>AZAR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38587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¿Qué no controla?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Ej.: el viento cambia.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07492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" y="51755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Las seis piezas se conectan: cambia una y cambia el juego.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8.3.4 · MECÁNICAS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131315"/>
                </a:solidFill>
                <a:latin typeface="Neuromax SemBd"/>
              </a:rPr>
              <a:t>LOOP, PROGRESIÓN Y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Lo que el jugador repite, lo que cambia y lo que lo detiene.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2344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64008" cy="822960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EXPLORAR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19656" y="2240280"/>
            <a:ext cx="137160" cy="0"/>
          </a:xfrm>
          <a:prstGeom prst="line">
            <a:avLst/>
          </a:prstGeom>
          <a:ln w="254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84248" y="1828800"/>
            <a:ext cx="12344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984248" y="1828800"/>
            <a:ext cx="64008" cy="822960"/>
          </a:xfrm>
          <a:prstGeom prst="rect">
            <a:avLst/>
          </a:prstGeom>
          <a:solidFill>
            <a:srgbClr val="A81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148840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A81E49"/>
                </a:solidFill>
                <a:latin typeface="Neuromax SemBd"/>
              </a:rPr>
              <a:t>COMBATIR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36976" y="2240280"/>
            <a:ext cx="137160" cy="0"/>
          </a:xfrm>
          <a:prstGeom prst="line">
            <a:avLst/>
          </a:prstGeom>
          <a:ln w="254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401568" y="1828800"/>
            <a:ext cx="12344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64008" cy="822960"/>
          </a:xfrm>
          <a:prstGeom prst="rect">
            <a:avLst/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E7A2E"/>
                </a:solidFill>
                <a:latin typeface="Neuromax SemBd"/>
              </a:rPr>
              <a:t>RECOMPENSA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54296" y="2240280"/>
            <a:ext cx="137160" cy="0"/>
          </a:xfrm>
          <a:prstGeom prst="line">
            <a:avLst/>
          </a:prstGeom>
          <a:ln w="254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818888" y="1828800"/>
            <a:ext cx="12344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18888" y="1828800"/>
            <a:ext cx="64008" cy="82296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83480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F3C7E"/>
                </a:solidFill>
                <a:latin typeface="Neuromax SemBd"/>
              </a:rPr>
              <a:t>MEJORAR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60120" y="3017520"/>
            <a:ext cx="4114800" cy="0"/>
          </a:xfrm>
          <a:prstGeom prst="line">
            <a:avLst/>
          </a:prstGeom>
          <a:ln w="25400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0120" y="2697480"/>
            <a:ext cx="0" cy="320040"/>
          </a:xfrm>
          <a:prstGeom prst="line">
            <a:avLst/>
          </a:prstGeom>
          <a:ln w="254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3090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se repite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38328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Una vuelta: 30 s a 5 min en un juego pequeño.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94760"/>
            <a:ext cx="6035040" cy="109728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66928" y="3794760"/>
            <a:ext cx="64008" cy="109728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8" y="3913632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963700"/>
                </a:solidFill>
                <a:latin typeface="Neuromax SemBd"/>
              </a:rPr>
              <a:t>EJEMPLO · COMETA ROTA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18795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Loop: correr → saltar → recoger → volver.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49884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Control: salto y dash. Meta: faro antes de la noche.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1645920"/>
            <a:ext cx="4754880" cy="10058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858000" y="1645920"/>
            <a:ext cx="64008" cy="1005840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0" y="176479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PROGRESIÓN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Qué mejora entre una partida y la siguiente.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788920"/>
            <a:ext cx="4754880" cy="10058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858000" y="2788920"/>
            <a:ext cx="64008" cy="1005840"/>
          </a:xfrm>
          <a:prstGeom prst="rect">
            <a:avLst/>
          </a:prstGeom>
          <a:solidFill>
            <a:srgbClr val="A81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0" y="2907791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81E49"/>
                </a:solidFill>
                <a:latin typeface="Neuromax SemBd"/>
              </a:rPr>
              <a:t>CONTROLES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200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Qué puede hacer el jugador y cómo se siente.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3931920"/>
            <a:ext cx="4754880" cy="100584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858000" y="3931920"/>
            <a:ext cx="64008" cy="1005840"/>
          </a:xfrm>
          <a:prstGeom prst="rect">
            <a:avLst/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0" y="4050791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E7A2E"/>
                </a:solidFill>
                <a:latin typeface="Neuromax SemBd"/>
              </a:rPr>
              <a:t>VICTORIA / DERROTA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343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Condiciones observables y justas.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" y="55412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Si el loop no es divertido, más contenido no lo arregla.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8.3.5 · MUNDO Y PERSONAJES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>
                <a:solidFill>
                  <a:srgbClr val="131315"/>
                </a:solidFill>
                <a:latin typeface="Neuromax SemBd"/>
              </a:rPr>
              <a:t>MUNDO Y PERSONAJES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El mundo pone las reglas; el personaje tiene deseo, necesidad y miedo.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6766560" cy="338328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UN MUNDO POSIBLE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963700"/>
                </a:solidFill>
                <a:latin typeface="Neuromax"/>
              </a:rPr>
              <a:t>REGLA: la noche cierra el camino.</a:t>
            </a:r>
          </a:p>
        </p:txBody>
      </p:sp>
      <p:pic>
        <p:nvPicPr>
          <p:cNvPr id="10" name="Picture 9" descr="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00400"/>
            <a:ext cx="685800" cy="1188720"/>
          </a:xfrm>
          <a:prstGeom prst="rect">
            <a:avLst/>
          </a:prstGeom>
        </p:spPr>
      </p:pic>
      <p:pic>
        <p:nvPicPr>
          <p:cNvPr id="11" name="Picture 10" descr="tree-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474720"/>
            <a:ext cx="594360" cy="1051560"/>
          </a:xfrm>
          <a:prstGeom prst="rect">
            <a:avLst/>
          </a:prstGeom>
        </p:spPr>
      </p:pic>
      <p:pic>
        <p:nvPicPr>
          <p:cNvPr id="12" name="Picture 11" descr="tal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200400"/>
            <a:ext cx="731520" cy="621792"/>
          </a:xfrm>
          <a:prstGeom prst="rect">
            <a:avLst/>
          </a:prstGeom>
        </p:spPr>
      </p:pic>
      <p:pic>
        <p:nvPicPr>
          <p:cNvPr id="13" name="Picture 12" descr="fa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788920"/>
            <a:ext cx="502920" cy="877824"/>
          </a:xfrm>
          <a:prstGeom prst="rect">
            <a:avLst/>
          </a:prstGeom>
        </p:spPr>
      </p:pic>
      <p:pic>
        <p:nvPicPr>
          <p:cNvPr id="14" name="Picture 13" descr="ch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069080"/>
            <a:ext cx="822960" cy="438912"/>
          </a:xfrm>
          <a:prstGeom prst="rect">
            <a:avLst/>
          </a:prstGeom>
        </p:spPr>
      </p:pic>
      <p:pic>
        <p:nvPicPr>
          <p:cNvPr id="15" name="Picture 14" descr="mushro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7639" y="4297680"/>
            <a:ext cx="347472" cy="210312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1737360" y="4023360"/>
            <a:ext cx="2423160" cy="0"/>
          </a:xfrm>
          <a:prstGeom prst="line">
            <a:avLst/>
          </a:prstGeom>
          <a:ln w="12700">
            <a:solidFill>
              <a:srgbClr val="4F53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160520" y="3703320"/>
            <a:ext cx="1691640" cy="320040"/>
          </a:xfrm>
          <a:prstGeom prst="line">
            <a:avLst/>
          </a:prstGeom>
          <a:ln w="12700">
            <a:solidFill>
              <a:srgbClr val="4F53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1560" y="2852928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288950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Neuromax SemBd"/>
              </a:rPr>
              <a:t>BOSQUE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2852928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03320" y="288950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Neuromax SemBd"/>
              </a:rPr>
              <a:t>TALLER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423160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0" y="245973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Neuromax SemBd"/>
              </a:rPr>
              <a:t>FARO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6177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F5361"/>
                </a:solidFill>
                <a:latin typeface="Neuromax"/>
              </a:rPr>
              <a:t>Islas flotantes sobre un mar de nubes.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645920"/>
            <a:ext cx="4114800" cy="338328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0" y="178308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08A3C"/>
                </a:solidFill>
                <a:latin typeface="Neuromax SemBd"/>
              </a:rPr>
              <a:t>PERSONAJE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0574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euromax SemBd"/>
              </a:rPr>
              <a:t>NIMA, LA
REPARTIDORA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7889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F08A3C"/>
                </a:solidFill>
                <a:latin typeface="Neuromax SemBd"/>
              </a:rPr>
              <a:t>QUIERE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77063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"/>
              </a:rPr>
              <a:t>Llegar al faro antes de la noche.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291839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F08A3C"/>
                </a:solidFill>
                <a:latin typeface="Neuromax SemBd"/>
              </a:rPr>
              <a:t>NECESITA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273551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"/>
              </a:rPr>
              <a:t>Aprender a confiar en otros.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79476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F08A3C"/>
                </a:solidFill>
                <a:latin typeface="Neuromax SemBd"/>
              </a:rPr>
              <a:t>TEME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7647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"/>
              </a:rPr>
              <a:t>Quedarse sin luz.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29768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F08A3C"/>
                </a:solidFill>
                <a:latin typeface="Neuromax SemBd"/>
              </a:rPr>
              <a:t>CAMBIA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2793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"/>
              </a:rPr>
              <a:t>Deja de correr sola.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257800"/>
            <a:ext cx="11055096" cy="566928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960" y="534009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euromax"/>
              </a:rPr>
              <a:t>Story Overview: documento corto para escritores.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5955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08A3C"/>
                </a:solidFill>
                <a:latin typeface="Neuromax"/>
              </a:rPr>
              <a:t>Story Bible: lo que es canon y lo que 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8.3.6 · 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131315"/>
                </a:solidFill>
                <a:latin typeface="Neuromax SemBd"/>
              </a:rPr>
              <a:t>ARTE Y ANIMACIÓN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El Art Bible fija el estilo; la animación comunica lo que el texto no dice.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3611880" cy="34747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3474720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63700"/>
                </a:solidFill>
                <a:latin typeface="Neuromax SemBd"/>
              </a:rPr>
              <a:t>ART BIBLE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Fija lo que debe verse igual en todo el juego.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743200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Paleta y valores.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090672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8992" y="30449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Siluetas y proporciones.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3438144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78992" y="339242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Luz y sombra.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785615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78992" y="373989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Animación y efectos.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133088"/>
            <a:ext cx="73152" cy="73152"/>
          </a:xfrm>
          <a:prstGeom prst="rect">
            <a:avLst/>
          </a:prstGeom>
          <a:solidFill>
            <a:srgbClr val="F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78992" y="408736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31315"/>
                </a:solidFill>
                <a:latin typeface="Neuromax"/>
              </a:rPr>
              <a:t>UI y tipografía.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Incluye un «no hacer».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645920"/>
            <a:ext cx="2331720" cy="34747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battletoads_crop.jpg"/>
          <p:cNvPicPr>
            <a:picLocks noChangeAspect="1"/>
          </p:cNvPicPr>
          <p:nvPr/>
        </p:nvPicPr>
        <p:blipFill>
          <a:blip r:embed="rId3"/>
          <a:srcRect t="13411" b="13411"/>
          <a:stretch>
            <a:fillRect/>
          </a:stretch>
        </p:blipFill>
        <p:spPr>
          <a:xfrm>
            <a:off x="4526279" y="1737360"/>
            <a:ext cx="2148840" cy="1207008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572000" y="30175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F5361"/>
                </a:solidFill>
                <a:latin typeface="Neuromax SemBd"/>
              </a:rPr>
              <a:t>1991 · 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4612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31315"/>
                </a:solidFill>
                <a:latin typeface="Neuromax SemBd"/>
              </a:rPr>
              <a:t>BATTLETOADS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661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31315"/>
                </a:solidFill>
                <a:latin typeface="Neuromax"/>
              </a:rPr>
              <a:t>Anticipación y exageración.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39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4F5361"/>
                </a:solidFill>
                <a:latin typeface="Neuromax"/>
              </a:rPr>
              <a:t>Golpes exagerados y feedback inmediato.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572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F5361"/>
                </a:solidFill>
                <a:latin typeface="Neuromax"/>
              </a:rPr>
              <a:t>youtube.com/watch?v=iqyeq7iC5YY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1645920"/>
            <a:ext cx="2331720" cy="34747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cuphead.jpg"/>
          <p:cNvPicPr>
            <a:picLocks noChangeAspect="1"/>
          </p:cNvPicPr>
          <p:nvPr/>
        </p:nvPicPr>
        <p:blipFill>
          <a:blip r:embed="rId4"/>
          <a:srcRect t="71" b="71"/>
          <a:stretch>
            <a:fillRect/>
          </a:stretch>
        </p:blipFill>
        <p:spPr>
          <a:xfrm>
            <a:off x="6995159" y="1737360"/>
            <a:ext cx="2148840" cy="1207008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7040880" y="30175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F5361"/>
                </a:solidFill>
                <a:latin typeface="Neuromax SemBd"/>
              </a:rPr>
              <a:t>2017 · PC Y CONSOLA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4612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31315"/>
                </a:solidFill>
                <a:latin typeface="Neuromax SemBd"/>
              </a:rPr>
              <a:t>CUPHEAD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661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31315"/>
                </a:solidFill>
                <a:latin typeface="Neuromax"/>
              </a:rPr>
              <a:t>Ritmo de cartoon de los años 30.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977639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4F5361"/>
                </a:solidFill>
                <a:latin typeface="Neuromax"/>
              </a:rPr>
              <a:t>Sincronía con la música y el ritmo.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572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F5361"/>
                </a:solidFill>
                <a:latin typeface="Neuromax"/>
              </a:rPr>
              <a:t>youtube.com/watch?v=7jvRoNPBHjk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1645920"/>
            <a:ext cx="2331720" cy="34747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Wlq6fFOqI28.jpg"/>
          <p:cNvPicPr>
            <a:picLocks noChangeAspect="1"/>
          </p:cNvPicPr>
          <p:nvPr/>
        </p:nvPicPr>
        <p:blipFill>
          <a:blip r:embed="rId5"/>
          <a:srcRect t="71" b="71"/>
          <a:stretch>
            <a:fillRect/>
          </a:stretch>
        </p:blipFill>
        <p:spPr>
          <a:xfrm>
            <a:off x="9464040" y="1737360"/>
            <a:ext cx="2148840" cy="1207008"/>
          </a:xfrm>
          <a:prstGeom prst="rect">
            <a:avLst/>
          </a:prstGeom>
          <a:ln w="25400">
            <a:solidFill>
              <a:srgbClr val="FFFFFF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9509760" y="30175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F5361"/>
                </a:solidFill>
                <a:latin typeface="Neuromax SemBd"/>
              </a:rPr>
              <a:t>2023 · 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24612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31315"/>
                </a:solidFill>
                <a:latin typeface="Neuromax SemBd"/>
              </a:rPr>
              <a:t>PIZZA TOWER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5661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31315"/>
                </a:solidFill>
                <a:latin typeface="Neuromax"/>
              </a:rPr>
              <a:t>Velocidad y deformación.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977639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4F5361"/>
                </a:solidFill>
                <a:latin typeface="Neuromax"/>
              </a:rPr>
              <a:t>Expresiones y deformación para transmitir prisa.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57200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F5361"/>
                </a:solidFill>
                <a:latin typeface="Neuromax"/>
              </a:rPr>
              <a:t>youtube.com/watch?v=Wlq6fFOqI28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" y="55412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Mira 30 segundos de cada video: ¿qué comunica la animación sin texto?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8.3.7 · 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>
                <a:solidFill>
                  <a:srgbClr val="131315"/>
                </a:solidFill>
                <a:latin typeface="Neuromax SemBd"/>
              </a:rPr>
              <a:t>HERRAMIENTAS Y LÍMITES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Schell: Technical Design, Pipeline y System Limitations.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5760720" cy="9601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64008" cy="960120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" y="176479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TECHNICAL DESIGN DOC.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57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Cómo se construye: motor, arquitectura, redes.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5760720" cy="9601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64008" cy="960120"/>
          </a:xfrm>
          <a:prstGeom prst="rect">
            <a:avLst/>
          </a:prstGeom>
          <a:solidFill>
            <a:srgbClr val="A81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28620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A81E49"/>
                </a:solidFill>
                <a:latin typeface="Neuromax SemBd"/>
              </a:rPr>
              <a:t>PIPELINE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546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Cómo entran los assets: formatos, nombres, pasos.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840480"/>
            <a:ext cx="5760720" cy="9601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40480"/>
            <a:ext cx="64008" cy="960120"/>
          </a:xfrm>
          <a:prstGeom prst="rect">
            <a:avLst/>
          </a:prstGeom>
          <a:solidFill>
            <a:srgbClr val="4E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395935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E7A2E"/>
                </a:solidFill>
                <a:latin typeface="Neuromax SemBd"/>
              </a:rPr>
              <a:t>SYSTEM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519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Qué no se puede cruzar: polígonos, memoria, frames.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645920"/>
            <a:ext cx="5074920" cy="333756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12280" y="17830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CÓMO ELEGIR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19456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963700"/>
                </a:solidFill>
                <a:latin typeface="Neuromax SemBd"/>
              </a:rPr>
              <a:t>PLATAFORMA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1762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1315"/>
                </a:solidFill>
                <a:latin typeface="Neuromax"/>
              </a:rPr>
              <a:t>¿PC, móvil, consola o web?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963700"/>
                </a:solidFill>
                <a:latin typeface="Neuromax SemBd"/>
              </a:rPr>
              <a:t>LENGUAJE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7432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1315"/>
                </a:solidFill>
                <a:latin typeface="Neuromax"/>
              </a:rPr>
              <a:t>¿El equipo ya lo sabe?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328415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963700"/>
                </a:solidFill>
                <a:latin typeface="Neuromax SemBd"/>
              </a:rPr>
              <a:t>LICENCIA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310127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1315"/>
                </a:solidFill>
                <a:latin typeface="Neuromax"/>
              </a:rPr>
              <a:t>¿Cuánto cuesta y qué permite?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8953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963700"/>
                </a:solidFill>
                <a:latin typeface="Neuromax SemBd"/>
              </a:rPr>
              <a:t>EQUIPO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87705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31315"/>
                </a:solidFill>
                <a:latin typeface="Neuromax"/>
              </a:rPr>
              <a:t>¿Hay gente que ya lo use?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5262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F5361"/>
                </a:solidFill>
                <a:latin typeface="Neuromax"/>
              </a:rPr>
              <a:t>La herramienta correcta reduce trabajo; la incorrecta lo multiplica.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16636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52669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Cambiar de herramienta a mitad del proyecto cuesta tiempo, dinero y ánimo.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292608"/>
            <a:ext cx="82296" cy="82296"/>
          </a:xfrm>
          <a:prstGeom prst="rect">
            <a:avLst/>
          </a:prstGeom>
          <a:solidFill>
            <a:srgbClr val="963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25603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8.3.8 · 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7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>
                <a:solidFill>
                  <a:srgbClr val="131315"/>
                </a:solidFill>
                <a:latin typeface="Neuromax SemBd"/>
              </a:rPr>
              <a:t>TU GDD EN UNA HOJA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4F5361"/>
                </a:solidFill>
                <a:latin typeface="Neuromax"/>
              </a:rPr>
              <a:t>60 minutos, lápiz y papel. Para este curso, no para todos los juegos.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7040880" cy="3474720"/>
          </a:xfrm>
          <a:prstGeom prst="rect">
            <a:avLst/>
          </a:prstGeom>
          <a:solidFill>
            <a:srgbClr val="FB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63700"/>
                </a:solidFill>
                <a:latin typeface="Neuromax SemBd"/>
              </a:rPr>
              <a:t>CHECKLIST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221991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0432" y="2194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Nombre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231" y="2221991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16551" y="2194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Género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2660903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2633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Pitch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1" y="2660903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16551" y="2633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Pilares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099815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70432" y="307238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Game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42231" y="3099815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16551" y="307238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Reglas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3538727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70432" y="351129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Meta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2231" y="3538727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16551" y="351129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Objetivo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" y="39776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70432" y="395020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Historia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2231" y="39776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16551" y="395020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Mundo / personaje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41655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70432" y="4389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Herramientas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42231" y="441655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16551" y="4389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31315"/>
                </a:solidFill>
                <a:latin typeface="Neuromax"/>
              </a:rPr>
              <a:t>Pregunta abierta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709160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F5361"/>
                </a:solidFill>
                <a:latin typeface="Neuromax"/>
              </a:rPr>
              <a:t>Si algo no cabe, córtalo: el alcance también es diseño.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1645920"/>
            <a:ext cx="3794760" cy="34747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092440" y="17830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08A3C"/>
                </a:solidFill>
                <a:latin typeface="Neuromax SemBd"/>
              </a:rPr>
              <a:t>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0574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0">
                <a:solidFill>
                  <a:srgbClr val="F08A3C"/>
                </a:solidFill>
                <a:latin typeface="Neuromax SemBd"/>
              </a:rPr>
              <a:t>60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euromax"/>
              </a:rPr>
              <a:t>Una hoja con tus decisiones.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3154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euromax"/>
              </a:rPr>
              <a:t>Un pitch de 3 minutos.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5204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euromax"/>
              </a:rPr>
              <a:t>Una pregunta que aún no sabes responder.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1605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F08A3C"/>
                </a:solidFill>
                <a:latin typeface="Neuromax"/>
              </a:rPr>
              <a:t>No es una plantilla universal: es una hoja para forzar decisiones claras.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1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60" y="55412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euromax SemBd"/>
              </a:rPr>
              <a:t>El GDD real crece de lo que el equipo necesita recordar y comunicar.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uromax">
      <a:majorFont>
        <a:latin typeface="Neuromax SemB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euromax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· Videojuegos</dc:title>
  <dc:subject>TC2005B · Plantilla de diapositivas</dc:subject>
  <dc:creator>TC2005B · Videojuegos</dc:creator>
  <cp:keywords/>
  <dc:description>Tipografía, tamaños y estructuras base para generar diapositivas del curso.</dc:description>
  <cp:lastModifiedBy>TC2005B</cp:lastModifiedBy>
  <cp:revision>42</cp:revision>
  <dcterms:created xsi:type="dcterms:W3CDTF">2013-01-27T09:14:16Z</dcterms:created>
  <dcterms:modified xsi:type="dcterms:W3CDTF">2026-10-22T14:56:41Z</dcterms:modified>
  <cp:category/>
</cp:coreProperties>
</file>