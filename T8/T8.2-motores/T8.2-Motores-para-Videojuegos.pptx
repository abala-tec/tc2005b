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Neuromax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Neuromax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Neuromax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Neuromax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Neuromax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Neuromax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Neuromax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Neuromax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Neuromax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10BBB3-2B43-481D-B823-02BA206301EB}" type="datetimeFigureOut">
              <a:t>20/10/2026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14E24F-D9B7-4F1A-80FA-E74B2D77F25F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2346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Bienvenida al tema 8.2. Hoy veremos qué es un motor, cuáles son los más importantes en 2026, cómo se elige y por qué el curso usa Unity.</a:t>
            </a:r>
          </a:p>
          <a:p>
            <a:r>
              <a:t>La idea no es memorizar nombres ni defender un motor como si fuera un equipo de fútbol: es entender qué herramienta conviene para cada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Recorrido de la sesión: qué es un motor, el panorama actual, fortalezas y debilidades de los tres grandes, criterios de selección y el caso de Unity en este curso.</a:t>
            </a:r>
          </a:p>
          <a:p>
            <a:r>
              <a:t>Al final hay una actividad breve para aplicar los criterios a tres proyectos distintos.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motor no es el juego: es la infraestructura sobre la que se construye. Pensarlo así evita dos errores comunes: creer que el motor lo hace todo y creer que da igual cuál elegir.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motor es un conjunto de sistemas y herramientas que ya resuelven lo que casi todo juego necesita: dibujar, simular física, reproducir audio, leer controles y cargar recursos.</a:t>
            </a:r>
          </a:p>
          <a:p>
            <a:r>
              <a:t>La analogía de la cocina: el motor es la cocina equipada, no la receta. Tú decides qué cocinar y cómo sabe.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mapa rápido. Unity es el generalista; Godot es el libre y ligero; Unreal es el de mayor calidad visual; Phaser es el especialista de la web.</a:t>
            </a:r>
          </a:p>
          <a:p>
            <a:r>
              <a:t>Preguntar al grupo: ¿cuáles han usado o cuáles les llaman la atención? No corregir todavía; las siguientes diapositivas explican el porqué.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Además de los cuatro grandes hay herramientas muy útiles. GameMaker y Construct son fuertes en 2D; RPG Maker está pensado para un género concreto; Defold y Cocos apuntan a móvil y web; Bevy es para quien ya programa en Rust.</a:t>
            </a:r>
          </a:p>
          <a:p>
            <a:r>
              <a:t>La lección: no siempre hace falta un motor general. Para un prototipo pequeño, una herramienta especializada puede ahorrar semanas.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Unity es el motor del curso. Lo vemos primero como una opción más, con sus ventajas y sus problemas, no como una obligación.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Unity es un motor generalista: lo mismo sirve para un juego 2D de móvil que para una experiencia de realidad virtual. Su lenguaje principal es C#.</a:t>
            </a:r>
          </a:p>
          <a:p>
            <a:r>
              <a:t>La versión LTS actual es Unity 6.3, publicada en diciembre de 2025 y soportada hasta diciembre de 2027. En clase usaremos una versión LTS para evitar sorpresas.</a:t>
            </a:r>
          </a:p>
          <a:p>
            <a:r>
              <a:t>Fortalezas: comunidad gigantesca, mucha documentación, Asset Store y salida a casi todas las plataformas. También es fuerte en móvil y XR.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Unity tiene costos y límites. El plan Personal es gratis hasta 200 mil USD de ingresos o fondos; arriba de eso se necesita Pro, que en 2026 cuesta 2,310 USD al año por asiento.</a:t>
            </a:r>
          </a:p>
          <a:p>
            <a:r>
              <a:t>El cambio de precios de 2023 y la llamada Runtime Fee dañaron la confianza de parte de la comunidad, aunque la cuota por instalación se canceló en 2024.</a:t>
            </a:r>
          </a:p>
          <a:p>
            <a:r>
              <a:t>También es más pesado que Godot, y C# puede producir pausas si el código genera mucha basura y el recolector de memoria trabaja de golpe.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Unity se usa mucho fuera de los juegos: simulación de robots, gemelos digitales de fábricas, capacitación en realidad virtual, previsualización de cine y configuradores de producto.</a:t>
            </a:r>
          </a:p>
          <a:p>
            <a:r>
              <a:t>Esto importa para el curso: las mismas ideas de escena, componentes, física y eventos sirven en otras materias y en trabajos de ingeniería.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Godot es la alternativa open source más seria. Su licencia MIT y su editor pequeño lo hacen muy atractivo para aprender y para proyectos 2D.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Godot es un motor libre con licencia MIT: puedes usarlo, modificarlo y vender lo que hagas sin pagar regalías. El editor pesa poco y abre rápido.</a:t>
            </a:r>
          </a:p>
          <a:p>
            <a:r>
              <a:t>Su organización se basa en escenas y nodos: cada objeto es un nodo y las escenas se pueden reutilizar. Esa idea resulta muy clara para quien empieza.</a:t>
            </a:r>
          </a:p>
          <a:p>
            <a:r>
              <a:t>GDScript se parece a Python y es el lenguaje principal; también se puede usar C#. Godot 4.6 salió en enero de 2026 y usa Jolt como física 3D por defecto.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Godot brilla en 2D y en proyectos independientes, pero todavía no compite con Unreal en 3D de alta gama. Su comunidad y su tienda de recursos son más pequeñas.</a:t>
            </a:r>
          </a:p>
          <a:p>
            <a:r>
              <a:t>En consolas, Godot no incluye exportadores oficiales por su modelo abierto; se usan portes de terceros como W4 Games o el trabajo con una distribuidora.</a:t>
            </a:r>
          </a:p>
          <a:p>
            <a:r>
              <a:t>C# funciona bien en escritorio, pero GDScript es el lenguaje con mejor soporte y el que aparece en casi toda la documentación.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Unreal es el techo de calidad visual. También es el que más pide: hardware, tiempo de aprendizaje y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Unreal Engine es el motor que marca la pauta en gráficos de alta gama. Nanite permite millones de polígonos y Lumen calcula iluminación global en tiempo real.</a:t>
            </a:r>
          </a:p>
          <a:p>
            <a:r>
              <a:t>La versión actual es UE 5.8, publicada en junio de 2026; es la última gran versión de la línea UE5. Epic ya anunció UE6 para acceso anticipado a finales de 2027.</a:t>
            </a:r>
          </a:p>
          <a:p>
            <a:r>
              <a:t>Se puede programar en C++ o con Blueprints, un sistema visual de nodos. Blueprints acelera los prototipos; C++ da más control y rendimiento.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Unreal pide una computadora potente, bastante espacio en disco y tiempo para compilar. El editor y C++ tienen una curva de aprendizaje más alta que Unity o Godot.</a:t>
            </a:r>
          </a:p>
          <a:p>
            <a:r>
              <a:t>Blueprints son muy útiles para empezar, pero un proyecto grande puede llenarse de nodos difíciles de leer y de depurar. La solución es combinar Blueprints con C++ y mantener una arquitectura clara.</a:t>
            </a:r>
          </a:p>
          <a:p>
            <a:r>
              <a:t>En licencia, Unreal es gratis hasta 1 millón USD de ingresos brutos por producto; arriba de eso se paga 5% de regalías.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Phaser es una biblioteca 2D para JavaScript y TypeScript. No es un motor con editor completo como Unity o Unreal: es una biblioteca que se integra en una página web.</a:t>
            </a:r>
          </a:p>
          <a:p>
            <a:r>
              <a:t>La versión 4 salió en abril de 2026, con un renderizador nuevo y mejoras de rendimiento. La licencia es MIT.</a:t>
            </a:r>
          </a:p>
          <a:p>
            <a:r>
              <a:t>Es excelente para game jams (encuentros para crear un juego en poco tiempo) y juegos de navegador. Sus límites: solo 2D, el rendimiento depende de JavaScript y el flujo de trabajo es principalmente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tabla resume lo importante. Unity y Godot cubren 2D y 3D; Unreal es 3D de alta gama; Phaser es 2D web; GameMaker es 2D con un flujo muy rápido.</a:t>
            </a:r>
          </a:p>
          <a:p>
            <a:r>
              <a:t>Cuidado con las cifras: son de 2026 y las licencias cambian. La columna de licencia es un punto de partida, no una asesoría legal.</a:t>
            </a:r>
          </a:p>
          <a:p>
            <a:r>
              <a:t>GameMaker tiene una versión gratuita para uso no comercial; para publicar comercialmente se necesita una licencia de pago.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orden importa. Primero el tipo de juego (2D o 3D), luego el lenguaje que puedes mantener, después la plataforma, el costo y el tiempo del equipo.</a:t>
            </a:r>
          </a:p>
          <a:p>
            <a:r>
              <a:t>La última pregunta es la que más se olvida: un motor con más funciones no sirve si el equipo no alcanza a aprenderlo en el tiempo disponible.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Todos los motores de la lista se pueden empezar gratis, pero no significan lo mismo. Unity Personal es gratis hasta 200 mil USD de ingresos o fondos; después se necesita Pro, 2,310 USD al año por asiento en 2026.</a:t>
            </a:r>
          </a:p>
          <a:p>
            <a:r>
              <a:t>Unreal es gratis hasta 1 millón USD de ingresos brutos por producto; arriba de eso se paga 5% de regalías. Godot y Phaser usan licencia MIT: sin regalías ni cuotas.</a:t>
            </a:r>
          </a:p>
          <a:p>
            <a:r>
              <a:t>La licencia no es solo el precio: también importan las condiciones, los límites de plataforma y los cambios futuros.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Ahora sí: por qué Unity en este curso. No porque sea el mejor en abstracto, sino porque es el mejor equilibrio para nuestras condiciones.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Unity es flexible: sirve para 2D, 3D, móvil, VR y simulación. Eso permite que el mismo curso conecte con robótica, control o realidad virtual.</a:t>
            </a:r>
          </a:p>
          <a:p>
            <a:r>
              <a:t>Es más ligero que Unreal y corre en equipos de laboratorio. C# es un lenguaje muy usado, parecido a Java, y el código que aprenden se transfiere.</a:t>
            </a:r>
          </a:p>
          <a:p>
            <a:r>
              <a:t>En el curso usamos código, no solo Blueprints. No porque lo visual sea malo, sino porque aprender a programar es parte del objetivo.</a:t>
            </a:r>
          </a:p>
          <a:p>
            <a:r>
              <a:t>No es un compromiso para toda la vida: es la herramienta que mejor se ajusta a este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CÓDIGO DE LA DIAPOSITIVA (con espacios, para copiar/pegar):</a:t>
            </a:r>
          </a:p>
          <a:p/>
          <a:p>
            <a:r>
              <a:t>using UnityEngine;</a:t>
            </a:r>
          </a:p>
          <a:p/>
          <a:p>
            <a:r>
              <a:t>public class Mover : MonoBehaviour</a:t>
            </a:r>
          </a:p>
          <a:p>
            <a:r>
              <a:t>{</a:t>
            </a:r>
          </a:p>
          <a:p>
            <a:r>
              <a:t>    public float speed = 5f;</a:t>
            </a:r>
          </a:p>
          <a:p/>
          <a:p>
            <a:r>
              <a:t>    void Update()</a:t>
            </a:r>
          </a:p>
          <a:p>
            <a:r>
              <a:t>    {</a:t>
            </a:r>
          </a:p>
          <a:p>
            <a:r>
              <a:t>        float x = Input.GetAxis("Horizontal");</a:t>
            </a:r>
          </a:p>
          <a:p>
            <a:r>
              <a:t>        float z = Input.GetAxis("Vertical");</a:t>
            </a:r>
          </a:p>
          <a:p>
            <a:r>
              <a:t>        Vector3 move = new Vector3(x, 0f, z);</a:t>
            </a:r>
          </a:p>
          <a:p>
            <a:r>
              <a:t>        transform.Translate(move * speed * Time.deltaTime);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Archivo completo: T8-2_content/mover_unity.cs</a:t>
            </a:r>
          </a:p>
          <a:p/>
          <a:p>
            <a:r>
              <a:t>Explicación: MonoBehaviour es la clase base de los scripts que se cuelgan de un GameObject. Update se llama una vez por fotograma. Input.GetAxis devuelve -1, 0 o 1 según la tecla. Time.deltaTime convierte "unidades por fotograma" en "unidades por segundo". transform.Translate mueve el objeto.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2026 la IA ya forma parte del flujo de recursos: se generan imágenes, texturas, modelos 3D base, audio y borradores de código. Herramientas como Meshy, Tripo o Scenario se usan para prototipar.</a:t>
            </a:r>
          </a:p>
          <a:p>
            <a:r>
              <a:t>Unity tiene un asistente y generadores dentro del editor en beta; Unreal 5.8 incorpora un complemento experimental (MCP) para conectar modelos externos. Ninguno reemplaza la dirección de arte ni la prueba en el juego.</a:t>
            </a:r>
          </a:p>
          <a:p>
            <a:r>
              <a:t>Riesgos: licencias de lo generado, coherencia de estilo, calidad de las mallas, derechos de autor y dependencia de servicios. La revisión humana sigue siendo obligatoria.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Actividad de 10 minutos: en parejas, eligen un motor para cada caso y escriben una justificación de una frase.</a:t>
            </a:r>
          </a:p>
          <a:p>
            <a:r>
              <a:t>Caso 1: Phaser o Godot por 2D, web y equipo pequeño. Caso 2: Unreal por calidad 3D y equipo grande, aunque también podría ser Unity. Caso 3: Unity por VR, simulación y C#.</a:t>
            </a:r>
          </a:p>
          <a:p>
            <a:r>
              <a:t>Lo importante no es acertar la respuesta única, sino usar los criterios: 2D/3D, lenguaje, plataforma, licencia y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Resumen: el motor es infraestructura, no el juego. Cada motor tiene un lugar: Unity equilibra, Godot libera, Unreal impresiona y Phaser publica en web.</a:t>
            </a:r>
          </a:p>
          <a:p>
            <a:r>
              <a:t>La decisión se toma por el proyecto: 2D/3D, lenguaje, plataforma, licencia y tiempo. En este curso usamos Unity por equilibrio, C# y utilidad fuera de los juegos.</a:t>
            </a:r>
          </a:p>
          <a:p>
            <a:r>
              <a:t>La siguiente parte es 8.5: GDD, Story Bible y Art Bible. Antes de escribir código, hay que decidir qué juego se quiere hacer y con qué alcance.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CRÉDITOS Y ENLACES</a:t>
            </a:r>
          </a:p>
          <a:p/>
          <a:p>
            <a:r>
              <a:t>Unity logo: https://commons.wikimedia.org/wiki/File:Unity_Logo_Black.svg — Unity Technologies, marca registrada, uso educativo.</a:t>
            </a:r>
          </a:p>
          <a:p>
            <a:r>
              <a:t>Unreal logo: https://commons.wikimedia.org/wiki/File:Unreal_Engine_Logo.svg — Epic Games, marca registrada, uso educativo.</a:t>
            </a:r>
          </a:p>
          <a:p>
            <a:r>
              <a:t>Godot logo: https://commons.wikimedia.org/wiki/File:Godot_logo_original_vertical.svg — Godot Engine contributors, CC BY 4.0.</a:t>
            </a:r>
          </a:p>
          <a:p>
            <a:r>
              <a:t>Phaser logo: https://commons.wikimedia.org/wiki/File:Phaser_Logo.png — Phaser Studio, MIT.</a:t>
            </a:r>
          </a:p>
          <a:p>
            <a:r>
              <a:t>Unity 6 editor: https://unity.com/releases/unity-6 — Unity Technologies, uso educativo.</a:t>
            </a:r>
          </a:p>
          <a:p>
            <a:r>
              <a:t>Godot 4.6 editor: https://godotengine.org/releases/4.6/ — Godot Engine, uso educativo.</a:t>
            </a:r>
          </a:p>
          <a:p>
            <a:r>
              <a:t>Unreal 5 ocean cliff: https://commons.wikimedia.org/wiki/File:Unreal_Engine_5_Custom_Map_-_Ocean_Cliff_Environment_animation.webm — monk3y_85, CC BY 3.0.</a:t>
            </a:r>
          </a:p>
          <a:p>
            <a:r>
              <a:t>VR training: https://commons.wikimedia.org/wiki/File:Army_does_VR_Ship_Simulation.jpg — U.S. Army, dominio público.</a:t>
            </a:r>
          </a:p>
          <a:p>
            <a:r>
              <a:t>Template, fondos y pixel art: template del curso TC2005B.</a:t>
            </a:r>
          </a:p>
          <a:p>
            <a:r>
              <a:t>Tipografía Neuromax: 1001fonts, licencia incluida en T8-2_content/fonts/.</a:t>
            </a:r>
          </a:p>
          <a:p/>
          <a:p>
            <a:r>
              <a:t>FUENTES DE DATOS</a:t>
            </a:r>
          </a:p>
          <a:p>
            <a:r>
              <a:t>Unity 6.3 LTS: https://unity.com/blog/unity-6-3-lts-is-now-available</a:t>
            </a:r>
          </a:p>
          <a:p>
            <a:r>
              <a:t>Precios de Unity: https://unity.com/products/pricing-updates</a:t>
            </a:r>
          </a:p>
          <a:p>
            <a:r>
              <a:t>Unreal Engine 5.8: https://www.unrealengine.com/news/unreal-engine-5-8-is-now-available</a:t>
            </a:r>
          </a:p>
          <a:p>
            <a:r>
              <a:t>Licencia de Unreal: https://www.unrealengine.com/license</a:t>
            </a:r>
          </a:p>
          <a:p>
            <a:r>
              <a:t>Godot 4.6: https://godotengine.org/releases/4.6/</a:t>
            </a:r>
          </a:p>
          <a:p>
            <a:r>
              <a:t>Licencia de Godot: https://godotengine.org/license/</a:t>
            </a:r>
          </a:p>
          <a:p>
            <a:r>
              <a:t>Consolas en Godot: https://godotengine.org/consoles/</a:t>
            </a:r>
          </a:p>
          <a:p>
            <a:r>
              <a:t>Phaser 4: https://phaser.io/phaser4</a:t>
            </a:r>
          </a:p>
          <a:p>
            <a:r>
              <a:t>Phaser 4.2.1: https://phaser.io/download/release/v4.2.1</a:t>
            </a:r>
          </a:p>
          <a:p>
            <a:r>
              <a:t>Unity AI: https://unity.com/features/ai</a:t>
            </a:r>
          </a:p>
          <a:p>
            <a:r>
              <a:t>IA en Unreal: https://dev.epicgames.com/documentation/unreal-engine/ai-features-tools-and-plugins-in-unreal-engine</a:t>
            </a:r>
          </a:p>
          <a:p>
            <a:r>
              <a:t>Meshy: https://www.meshy.ai/</a:t>
            </a:r>
          </a:p>
          <a:p>
            <a:r>
              <a:t>Tripo: https://www.tripo3d.ai/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y espacio para preguntas. Recordar que el siguiente tema es 8.5: GDD, Story Bible y Art Bible.</a:t>
            </a:r>
          </a:p>
          <a:p>
            <a:r>
              <a:t>Si queda tiempo, pedir a alguien que mencione un juego y responder: ¿qué motor le conviene y por qué? Eso repasa los cinco criterios.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2.png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jp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6.jp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2.png"/><Relationship Id="rId9" Type="http://schemas.openxmlformats.org/officeDocument/2006/relationships/image" Target="../media/image2.png"/><Relationship Id="rId10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9728"/>
            <a:ext cx="777240" cy="739975"/>
          </a:xfrm>
          <a:prstGeom prst="rect">
            <a:avLst/>
          </a:prstGeom>
        </p:spPr>
      </p:pic>
      <p:pic>
        <p:nvPicPr>
          <p:cNvPr id="4" name="Picture 3" descr="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39" y="411480"/>
            <a:ext cx="1325880" cy="577758"/>
          </a:xfrm>
          <a:prstGeom prst="rect">
            <a:avLst/>
          </a:prstGeom>
        </p:spPr>
      </p:pic>
      <p:pic>
        <p:nvPicPr>
          <p:cNvPr id="5" name="Picture 4" descr="tr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4343400"/>
            <a:ext cx="1021080" cy="1828800"/>
          </a:xfrm>
          <a:prstGeom prst="rect">
            <a:avLst/>
          </a:prstGeom>
        </p:spPr>
      </p:pic>
      <p:pic>
        <p:nvPicPr>
          <p:cNvPr id="6" name="Picture 5" descr="tree-sma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7320" y="4526280"/>
            <a:ext cx="988498" cy="1508760"/>
          </a:xfrm>
          <a:prstGeom prst="rect">
            <a:avLst/>
          </a:prstGeom>
        </p:spPr>
      </p:pic>
      <p:pic>
        <p:nvPicPr>
          <p:cNvPr id="7" name="Picture 6" descr="mushroo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1720" y="5285232"/>
            <a:ext cx="594360" cy="357967"/>
          </a:xfrm>
          <a:prstGeom prst="rect">
            <a:avLst/>
          </a:prstGeom>
        </p:spPr>
      </p:pic>
      <p:pic>
        <p:nvPicPr>
          <p:cNvPr id="8" name="Picture 7" descr="cloud-lo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7840" y="164592"/>
            <a:ext cx="1143000" cy="48191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55080" y="658368"/>
            <a:ext cx="5074920" cy="4572000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886968"/>
            <a:ext cx="2148840" cy="1783080"/>
          </a:xfrm>
          <a:prstGeom prst="rect">
            <a:avLst/>
          </a:prstGeom>
          <a:solidFill>
            <a:srgbClr val="F7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ni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0" y="1370545"/>
            <a:ext cx="1417320" cy="4775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0" y="2304288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es-MX" spc="110">
                <a:solidFill>
                  <a:srgbClr val="963700"/>
                </a:solidFill>
                <a:latin typeface="Neuromax SemBd"/>
              </a:rPr>
              <a:t>UNITY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886968"/>
            <a:ext cx="2148840" cy="1783080"/>
          </a:xfrm>
          <a:prstGeom prst="rect">
            <a:avLst/>
          </a:prstGeom>
          <a:solidFill>
            <a:srgbClr val="F7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odo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6880" y="1069983"/>
            <a:ext cx="1417320" cy="10787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61120" y="2304288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es-MX" spc="110">
                <a:solidFill>
                  <a:srgbClr val="963700"/>
                </a:solidFill>
                <a:latin typeface="Neuromax SemBd"/>
              </a:rPr>
              <a:t>GODOT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990087"/>
            <a:ext cx="2148840" cy="1783080"/>
          </a:xfrm>
          <a:prstGeom prst="rect">
            <a:avLst/>
          </a:prstGeom>
          <a:solidFill>
            <a:srgbClr val="F7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unre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98334" y="3172968"/>
            <a:ext cx="1319531" cy="10789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83680" y="4407407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es-MX" spc="110">
                <a:solidFill>
                  <a:srgbClr val="963700"/>
                </a:solidFill>
                <a:latin typeface="Neuromax SemBd"/>
              </a:rPr>
              <a:t>UNREAL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2990087"/>
            <a:ext cx="2148840" cy="1783080"/>
          </a:xfrm>
          <a:prstGeom prst="rect">
            <a:avLst/>
          </a:prstGeom>
          <a:solidFill>
            <a:srgbClr val="F7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has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05695" y="3172968"/>
            <a:ext cx="1259689" cy="10789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961120" y="4407407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es-MX" spc="110">
                <a:solidFill>
                  <a:srgbClr val="963700"/>
                </a:solidFill>
                <a:latin typeface="Neuromax SemBd"/>
              </a:rPr>
              <a:t>PHASER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051560"/>
            <a:ext cx="5394960" cy="18745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4300" b="0" i="0" lang="es-MX">
                <a:solidFill>
                  <a:srgbClr val="131315"/>
                </a:solidFill>
                <a:latin typeface="Neuromax SemBd"/>
              </a:rPr>
              <a:t>MOTORES PARA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4300" b="0" i="0" lang="es-MX">
                <a:solidFill>
                  <a:srgbClr val="131315"/>
                </a:solidFill>
                <a:latin typeface="Neuromax SemBd"/>
              </a:rPr>
              <a:t>VIDEOJUEGOS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127248"/>
            <a:ext cx="2011680" cy="5943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401568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s-MX">
                <a:solidFill>
                  <a:srgbClr val="4F5361"/>
                </a:solidFill>
                <a:latin typeface="Neuromax"/>
              </a:rPr>
              <a:t>T8.2 · Con qué herramientas se construye un juego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813048"/>
            <a:ext cx="52120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es-MX">
                <a:solidFill>
                  <a:srgbClr val="963700"/>
                </a:solidFill>
                <a:latin typeface="Neuromax"/>
              </a:rPr>
              <a:t>No hay un motor perfecto.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es-MX">
                <a:solidFill>
                  <a:srgbClr val="963700"/>
                </a:solidFill>
                <a:latin typeface="Neuromax"/>
              </a:rPr>
              <a:t>Hay un motor para cada proyecto.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loud-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82880"/>
            <a:ext cx="822960" cy="34697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251460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110">
                <a:solidFill>
                  <a:srgbClr val="963700"/>
                </a:solidFill>
                <a:latin typeface="Neuromax SemBd"/>
              </a:rPr>
              <a:t>8.2 · MOTORES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92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lang="es-MX">
                <a:solidFill>
                  <a:srgbClr val="131315"/>
                </a:solidFill>
                <a:latin typeface="Neuromax SemBd"/>
              </a:rPr>
              <a:t>LO QUE VEREMOS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7899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4F5361"/>
                </a:solidFill>
                <a:latin typeface="Neuromax"/>
              </a:rPr>
              <a:t>Cinco bloques para elegir con criterio.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11055096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64208"/>
            <a:ext cx="82296" cy="694944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8308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s-MX">
                <a:solidFill>
                  <a:srgbClr val="963700"/>
                </a:solidFill>
                <a:latin typeface="Neuromax SemB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74650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es-MX">
                <a:solidFill>
                  <a:srgbClr val="131315"/>
                </a:solidFill>
                <a:latin typeface="Neuromax SemBd"/>
              </a:rPr>
              <a:t>QUÉ ES UN MOTOR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039112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s-MX">
                <a:solidFill>
                  <a:srgbClr val="4F5361"/>
                </a:solidFill>
                <a:latin typeface="Neuromax"/>
              </a:rPr>
              <a:t>La caja de herramientas que evita repetir trabajo.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182880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lang="es-MX">
                <a:solidFill>
                  <a:srgbClr val="A81E49"/>
                </a:solidFill>
                <a:latin typeface="Neuromax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450592"/>
            <a:ext cx="11055096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450592"/>
            <a:ext cx="82296" cy="694944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256946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s-MX">
                <a:solidFill>
                  <a:srgbClr val="963700"/>
                </a:solidFill>
                <a:latin typeface="Neuromax SemB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53288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es-MX">
                <a:solidFill>
                  <a:srgbClr val="131315"/>
                </a:solidFill>
                <a:latin typeface="Neuromax SemBd"/>
              </a:rPr>
              <a:t>EL PANORAMA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825496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s-MX">
                <a:solidFill>
                  <a:srgbClr val="4F5361"/>
                </a:solidFill>
                <a:latin typeface="Neuromax"/>
              </a:rPr>
              <a:t>Unity, Godot, Unreal, Phaser y otras opciones.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261518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lang="es-MX">
                <a:solidFill>
                  <a:srgbClr val="A81E49"/>
                </a:solidFill>
                <a:latin typeface="Neuromax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236976"/>
            <a:ext cx="11055096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236976"/>
            <a:ext cx="82296" cy="694944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355848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s-MX">
                <a:solidFill>
                  <a:srgbClr val="963700"/>
                </a:solidFill>
                <a:latin typeface="Neuromax SemB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31927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es-MX">
                <a:solidFill>
                  <a:srgbClr val="131315"/>
                </a:solidFill>
                <a:latin typeface="Neuromax SemBd"/>
              </a:rPr>
              <a:t>PUNTOS FUERTES Y DÉBILES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611880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s-MX">
                <a:solidFill>
                  <a:srgbClr val="4F5361"/>
                </a:solidFill>
                <a:latin typeface="Neuromax"/>
              </a:rPr>
              <a:t>Lo que cada motor hace bien y lo que te cobra.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7080" y="3401568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lang="es-MX">
                <a:solidFill>
                  <a:srgbClr val="A81E49"/>
                </a:solidFill>
                <a:latin typeface="Neuromax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023360"/>
            <a:ext cx="11055096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023360"/>
            <a:ext cx="82296" cy="694944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414223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s-MX">
                <a:solidFill>
                  <a:srgbClr val="963700"/>
                </a:solidFill>
                <a:latin typeface="Neuromax SemB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10565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es-MX">
                <a:solidFill>
                  <a:srgbClr val="131315"/>
                </a:solidFill>
                <a:latin typeface="Neuromax SemBd"/>
              </a:rPr>
              <a:t>CÓMO ELEGIR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4398264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s-MX">
                <a:solidFill>
                  <a:srgbClr val="4F5361"/>
                </a:solidFill>
                <a:latin typeface="Neuromax"/>
              </a:rPr>
              <a:t>2D/3D, lenguaje, licencia, plataforma y tiempo.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27080" y="418795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lang="es-MX">
                <a:solidFill>
                  <a:srgbClr val="A81E49"/>
                </a:solidFill>
                <a:latin typeface="Neuromax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809744"/>
            <a:ext cx="11055096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4809744"/>
            <a:ext cx="82296" cy="694944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492861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s-MX">
                <a:solidFill>
                  <a:srgbClr val="963700"/>
                </a:solidFill>
                <a:latin typeface="Neuromax SemBd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8920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es-MX">
                <a:solidFill>
                  <a:srgbClr val="131315"/>
                </a:solidFill>
                <a:latin typeface="Neuromax SemBd"/>
              </a:rPr>
              <a:t>UNITY Y EL FUTURO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5184648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s-MX">
                <a:solidFill>
                  <a:srgbClr val="4F5361"/>
                </a:solidFill>
                <a:latin typeface="Neuromax"/>
              </a:rPr>
              <a:t>Por qué lo usamos y qué cambia con la IA.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27080" y="4974336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lang="es-MX">
                <a:solidFill>
                  <a:srgbClr val="A81E49"/>
                </a:solidFill>
                <a:latin typeface="Neuromax"/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502920"/>
            <a:ext cx="1097280" cy="478144"/>
          </a:xfrm>
          <a:prstGeom prst="rect">
            <a:avLst/>
          </a:prstGeom>
        </p:spPr>
      </p:pic>
      <p:pic>
        <p:nvPicPr>
          <p:cNvPr id="4" name="Picture 3" descr="t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3703320"/>
            <a:ext cx="1097661" cy="1965960"/>
          </a:xfrm>
          <a:prstGeom prst="rect">
            <a:avLst/>
          </a:prstGeom>
        </p:spPr>
      </p:pic>
      <p:pic>
        <p:nvPicPr>
          <p:cNvPr id="5" name="Picture 4" descr="mushro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5166360"/>
            <a:ext cx="640080" cy="385503"/>
          </a:xfrm>
          <a:prstGeom prst="rect">
            <a:avLst/>
          </a:prstGeom>
        </p:spPr>
      </p:pic>
      <p:pic>
        <p:nvPicPr>
          <p:cNvPr id="6" name="Picture 5" descr="ch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4892040"/>
            <a:ext cx="1463040" cy="775776"/>
          </a:xfrm>
          <a:prstGeom prst="rect">
            <a:avLst/>
          </a:prstGeom>
        </p:spPr>
      </p:pic>
      <p:pic>
        <p:nvPicPr>
          <p:cNvPr id="7" name="Picture 6" descr="st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0" y="4251960"/>
            <a:ext cx="685800" cy="65291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301752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65176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110">
                <a:solidFill>
                  <a:srgbClr val="963700"/>
                </a:solidFill>
                <a:latin typeface="Neuromax SemBd"/>
              </a:rPr>
              <a:t>BLOQUE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024128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sz="7400" b="0" i="0" lang="es-MX">
                <a:solidFill>
                  <a:srgbClr val="F08A3C"/>
                </a:solidFill>
                <a:latin typeface="Neuromax SemB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658368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 lang="es-MX">
                <a:solidFill>
                  <a:srgbClr val="131315"/>
                </a:solidFill>
                <a:latin typeface="Neuromax SemBd"/>
              </a:rPr>
              <a:t>¿QUÉ ES UN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 lang="es-MX">
                <a:solidFill>
                  <a:srgbClr val="131315"/>
                </a:solidFill>
                <a:latin typeface="Neuromax SemBd"/>
              </a:rPr>
              <a:t>MOTOR?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767328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lang="es-MX">
                <a:solidFill>
                  <a:srgbClr val="4F5361"/>
                </a:solidFill>
                <a:latin typeface="Neuromax"/>
              </a:rPr>
              <a:t>La infraestructura que sostiene al juego.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498848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80">
                <a:solidFill>
                  <a:srgbClr val="963700"/>
                </a:solidFill>
                <a:latin typeface="Neuromax SemBd"/>
              </a:rPr>
              <a:t>ESCENAS · FÍSICA · AUDIO · CÓDIGO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loud-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164592"/>
            <a:ext cx="777240" cy="3277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251460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110">
                <a:solidFill>
                  <a:srgbClr val="963700"/>
                </a:solidFill>
                <a:latin typeface="Neuromax SemBd"/>
              </a:rPr>
              <a:t>8.2.1 · 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92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lang="es-MX">
                <a:solidFill>
                  <a:srgbClr val="131315"/>
                </a:solidFill>
                <a:latin typeface="Neuromax SemBd"/>
              </a:rPr>
              <a:t>EL MOTOR ES UNA CAJA DE HERRAMIENTAS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7899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4F5361"/>
                </a:solidFill>
                <a:latin typeface="Neuromax"/>
              </a:rPr>
              <a:t>Resuelve lo repetitivo para que te concentres en el juego.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3502152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64208"/>
            <a:ext cx="68580" cy="150876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92224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s-MX">
                <a:solidFill>
                  <a:srgbClr val="963700"/>
                </a:solidFill>
                <a:latin typeface="Neuromax SemB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73936"/>
            <a:ext cx="277063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131315"/>
                </a:solidFill>
                <a:latin typeface="Neuromax SemBd"/>
              </a:rPr>
              <a:t>RENDER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176272"/>
            <a:ext cx="3136392" cy="92354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s-MX">
                <a:solidFill>
                  <a:srgbClr val="4F5361"/>
                </a:solidFill>
                <a:latin typeface="Neuromax"/>
              </a:rPr>
              <a:t>Dibuja la escena: luces, sombras, materiales y efectos.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664208"/>
            <a:ext cx="3502152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664208"/>
            <a:ext cx="68580" cy="1508760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792224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s-MX">
                <a:solidFill>
                  <a:srgbClr val="963700"/>
                </a:solidFill>
                <a:latin typeface="Neuromax SemB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0328" y="1773936"/>
            <a:ext cx="277063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131315"/>
                </a:solidFill>
                <a:latin typeface="Neuromax SemBd"/>
              </a:rPr>
              <a:t>FÍSICA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176272"/>
            <a:ext cx="3136392" cy="92354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s-MX">
                <a:solidFill>
                  <a:srgbClr val="4F5361"/>
                </a:solidFill>
                <a:latin typeface="Neuromax"/>
              </a:rPr>
              <a:t>Gravedad, choques, fuerzas y movimiento.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9871" y="1664208"/>
            <a:ext cx="3502152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9871" y="1664208"/>
            <a:ext cx="68580" cy="150876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1" y="1792224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s-MX">
                <a:solidFill>
                  <a:srgbClr val="963700"/>
                </a:solidFill>
                <a:latin typeface="Neuromax SemB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799" y="1773936"/>
            <a:ext cx="277063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131315"/>
                </a:solidFill>
                <a:latin typeface="Neuromax SemBd"/>
              </a:rPr>
              <a:t>AUDIO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2176272"/>
            <a:ext cx="3136392" cy="92354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s-MX">
                <a:solidFill>
                  <a:srgbClr val="4F5361"/>
                </a:solidFill>
                <a:latin typeface="Neuromax"/>
              </a:rPr>
              <a:t>Reproduce música y efectos, y mezcla volúmenes.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355848"/>
            <a:ext cx="3502152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3355848"/>
            <a:ext cx="68580" cy="150876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483864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s-MX">
                <a:solidFill>
                  <a:srgbClr val="963700"/>
                </a:solidFill>
                <a:latin typeface="Neuromax SemB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3465576"/>
            <a:ext cx="277063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131315"/>
                </a:solidFill>
                <a:latin typeface="Neuromax SemBd"/>
              </a:rPr>
              <a:t>ENTRADA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867912"/>
            <a:ext cx="3136392" cy="92354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s-MX">
                <a:solidFill>
                  <a:srgbClr val="4F5361"/>
                </a:solidFill>
                <a:latin typeface="Neuromax"/>
              </a:rPr>
              <a:t>Lee teclado, mouse, mando y pantalla táctil.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3355848"/>
            <a:ext cx="3502152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3355848"/>
            <a:ext cx="68580" cy="1508760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3483864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s-MX">
                <a:solidFill>
                  <a:srgbClr val="963700"/>
                </a:solidFill>
                <a:latin typeface="Neuromax SemBd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0328" y="3465576"/>
            <a:ext cx="277063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131315"/>
                </a:solidFill>
                <a:latin typeface="Neuromax SemBd"/>
              </a:rPr>
              <a:t>RECURSOS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5424" y="3867912"/>
            <a:ext cx="3136392" cy="92354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s-MX">
                <a:solidFill>
                  <a:srgbClr val="4F5361"/>
                </a:solidFill>
                <a:latin typeface="Neuromax"/>
              </a:rPr>
              <a:t>Carga y organiza imágenes, modelos, sonidos y escenas.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9871" y="3355848"/>
            <a:ext cx="3502152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19871" y="3355848"/>
            <a:ext cx="68580" cy="150876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1" y="3483864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s-MX">
                <a:solidFill>
                  <a:srgbClr val="963700"/>
                </a:solidFill>
                <a:latin typeface="Neuromax SemBd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799" y="3465576"/>
            <a:ext cx="277063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131315"/>
                </a:solidFill>
                <a:latin typeface="Neuromax SemBd"/>
              </a:rPr>
              <a:t>HERRAMIENTAS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1896" y="3867912"/>
            <a:ext cx="3136392" cy="92354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s-MX">
                <a:solidFill>
                  <a:srgbClr val="4F5361"/>
                </a:solidFill>
                <a:latin typeface="Neuromax"/>
              </a:rPr>
              <a:t>Editor visual, animación, depuración y compilación.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5074920"/>
            <a:ext cx="11055096" cy="512064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5074920"/>
            <a:ext cx="10241280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s-MX">
                <a:solidFill>
                  <a:srgbClr val="FFFFFF"/>
                </a:solidFill>
                <a:latin typeface="Neuromax SemBd"/>
              </a:rPr>
              <a:t>El motor no diseña el juego: te quita el trabajo repetitivo.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loud-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64592"/>
            <a:ext cx="822960" cy="34697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251460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110">
                <a:solidFill>
                  <a:srgbClr val="963700"/>
                </a:solidFill>
                <a:latin typeface="Neuromax SemBd"/>
              </a:rPr>
              <a:t>8.2.1 · PANORAMA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92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lang="es-MX">
                <a:solidFill>
                  <a:srgbClr val="131315"/>
                </a:solidFill>
                <a:latin typeface="Neuromax SemBd"/>
              </a:rPr>
              <a:t>EL PANORAMA EN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7899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4F5361"/>
                </a:solidFill>
                <a:latin typeface="Neuromax"/>
              </a:rPr>
              <a:t>Cuatro nombres que vas a escuchar todo el tiempo.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2688336" cy="3154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n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16" y="2072943"/>
            <a:ext cx="1508759" cy="5084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2944368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131315"/>
                </a:solidFill>
                <a:latin typeface="Neuromax SemBd"/>
              </a:rPr>
              <a:t>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es-MX">
                <a:solidFill>
                  <a:srgbClr val="963700"/>
                </a:solidFill>
                <a:latin typeface="Neuromax SemBd"/>
              </a:rPr>
              <a:t>C# · 2D y 3D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2340864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es-MX">
                <a:solidFill>
                  <a:srgbClr val="4F5361"/>
                </a:solidFill>
                <a:latin typeface="Neuromax"/>
              </a:rPr>
              <a:t>El generalista: móvil, consola, VR y simulación.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34840"/>
            <a:ext cx="2340864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 lang="es-MX" spc="40">
                <a:solidFill>
                  <a:srgbClr val="963700"/>
                </a:solidFill>
                <a:latin typeface="Neuromax SemBd"/>
              </a:rPr>
              <a:t>CURVA MEDIA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5848" y="1664208"/>
            <a:ext cx="2688336" cy="3154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od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270" y="1847088"/>
            <a:ext cx="1261491" cy="9601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20440" y="2944368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131315"/>
                </a:solidFill>
                <a:latin typeface="Neuromax SemBd"/>
              </a:rPr>
              <a:t>GODOT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246120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es-MX">
                <a:solidFill>
                  <a:srgbClr val="963700"/>
                </a:solidFill>
                <a:latin typeface="Neuromax SemBd"/>
              </a:rPr>
              <a:t>GDScript y C# · 2D y 3D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566160"/>
            <a:ext cx="2340864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es-MX">
                <a:solidFill>
                  <a:srgbClr val="4F5361"/>
                </a:solidFill>
                <a:latin typeface="Neuromax"/>
              </a:rPr>
              <a:t>Libre y ligero. Ideal para aprender y para 2D.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434840"/>
            <a:ext cx="2340864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 lang="es-MX" spc="40">
                <a:solidFill>
                  <a:srgbClr val="963700"/>
                </a:solidFill>
                <a:latin typeface="Neuromax SemBd"/>
              </a:rPr>
              <a:t>CURVA BAJA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1664208"/>
            <a:ext cx="2688336" cy="3154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unr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1856" y="1847088"/>
            <a:ext cx="1174159" cy="9601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09359" y="2944368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131315"/>
                </a:solidFill>
                <a:latin typeface="Neuromax SemBd"/>
              </a:rPr>
              <a:t>UNREAL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3246120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es-MX">
                <a:solidFill>
                  <a:srgbClr val="963700"/>
                </a:solidFill>
                <a:latin typeface="Neuromax SemBd"/>
              </a:rPr>
              <a:t>C++ y Blueprints · 3D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3566160"/>
            <a:ext cx="2340864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es-MX">
                <a:solidFill>
                  <a:srgbClr val="4F5361"/>
                </a:solidFill>
                <a:latin typeface="Neuromax"/>
              </a:rPr>
              <a:t>La referencia en gráficos de alta gama.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4434840"/>
            <a:ext cx="2340864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 lang="es-MX" spc="40">
                <a:solidFill>
                  <a:srgbClr val="963700"/>
                </a:solidFill>
                <a:latin typeface="Neuromax SemBd"/>
              </a:rPr>
              <a:t>CURVA ALTA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33687" y="1664208"/>
            <a:ext cx="2688336" cy="3154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phas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7400" y="1847088"/>
            <a:ext cx="1120910" cy="9601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098279" y="2944368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131315"/>
                </a:solidFill>
                <a:latin typeface="Neuromax SemBd"/>
              </a:rPr>
              <a:t>PHASER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79" y="3246120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es-MX">
                <a:solidFill>
                  <a:srgbClr val="963700"/>
                </a:solidFill>
                <a:latin typeface="Neuromax SemBd"/>
              </a:rPr>
              <a:t>JavaScript · 2D web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79" y="3566160"/>
            <a:ext cx="2340864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es-MX">
                <a:solidFill>
                  <a:srgbClr val="4F5361"/>
                </a:solidFill>
                <a:latin typeface="Neuromax"/>
              </a:rPr>
              <a:t>Juegos que corren en una pestaña del navegador.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79" y="4434840"/>
            <a:ext cx="2340864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 lang="es-MX" spc="40">
                <a:solidFill>
                  <a:srgbClr val="963700"/>
                </a:solidFill>
                <a:latin typeface="Neuromax SemBd"/>
              </a:rPr>
              <a:t>CURVA BAJA CON JS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5074920"/>
            <a:ext cx="11055096" cy="512064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074920"/>
            <a:ext cx="10241280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s-MX">
                <a:solidFill>
                  <a:srgbClr val="FFFFFF"/>
                </a:solidFill>
                <a:latin typeface="Neuromax SemBd"/>
              </a:rPr>
              <a:t>Ninguno es «el mejor»: cada uno brilla en un tipo de proyecto.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51460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110">
                <a:solidFill>
                  <a:srgbClr val="963700"/>
                </a:solidFill>
                <a:latin typeface="Neuromax SemBd"/>
              </a:rPr>
              <a:t>8.2.1 · PANORAMA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lang="es-MX">
                <a:solidFill>
                  <a:srgbClr val="131315"/>
                </a:solidFill>
                <a:latin typeface="Neuromax SemBd"/>
              </a:rPr>
              <a:t>OTROS MOTORES Y HERRAMIENTAS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4F5361"/>
                </a:solidFill>
                <a:latin typeface="Neuromax"/>
              </a:rPr>
              <a:t>Opciones especializadas que también conviene conocer.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3502152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68580" cy="150876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8288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131315"/>
                </a:solidFill>
                <a:latin typeface="Neuromax SemBd"/>
              </a:rPr>
              <a:t>GAMEMAKER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258568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es-MX">
                <a:solidFill>
                  <a:srgbClr val="4F5361"/>
                </a:solidFill>
                <a:latin typeface="Neuromax"/>
              </a:rPr>
              <a:t>2D rápido; muy usado en juegos indie.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664208"/>
            <a:ext cx="3502152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64208"/>
            <a:ext cx="68580" cy="1508760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8288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131315"/>
                </a:solidFill>
                <a:latin typeface="Neuromax SemBd"/>
              </a:rPr>
              <a:t>RPG MAKER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258568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es-MX">
                <a:solidFill>
                  <a:srgbClr val="4F5361"/>
                </a:solidFill>
                <a:latin typeface="Neuromax"/>
              </a:rPr>
              <a:t>RPG por turnos con un editor visual.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9871" y="1664208"/>
            <a:ext cx="3502152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871" y="1664208"/>
            <a:ext cx="68580" cy="150876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8288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131315"/>
                </a:solidFill>
                <a:latin typeface="Neuromax SemBd"/>
              </a:rPr>
              <a:t>DEFOLD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58568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es-MX">
                <a:solidFill>
                  <a:srgbClr val="4F5361"/>
                </a:solidFill>
                <a:latin typeface="Neuromax"/>
              </a:rPr>
              <a:t>2D ligero para móvil y web.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355848"/>
            <a:ext cx="3502152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355848"/>
            <a:ext cx="68580" cy="150876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520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131315"/>
                </a:solidFill>
                <a:latin typeface="Neuromax SemBd"/>
              </a:rPr>
              <a:t>CONSTRUCT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950208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es-MX">
                <a:solidFill>
                  <a:srgbClr val="4F5361"/>
                </a:solidFill>
                <a:latin typeface="Neuromax"/>
              </a:rPr>
              <a:t>2D sin código, bueno para prototipos.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355848"/>
            <a:ext cx="3502152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3355848"/>
            <a:ext cx="68580" cy="1508760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44568" y="3520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131315"/>
                </a:solidFill>
                <a:latin typeface="Neuromax SemBd"/>
              </a:rPr>
              <a:t>BEVY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3950208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es-MX">
                <a:solidFill>
                  <a:srgbClr val="4F5361"/>
                </a:solidFill>
                <a:latin typeface="Neuromax"/>
              </a:rPr>
              <a:t>Motor en Rust, para quien ya programa.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19871" y="3355848"/>
            <a:ext cx="3502152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19871" y="3355848"/>
            <a:ext cx="68580" cy="150876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520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131315"/>
                </a:solidFill>
                <a:latin typeface="Neuromax SemBd"/>
              </a:rPr>
              <a:t>COCOS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950208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es-MX">
                <a:solidFill>
                  <a:srgbClr val="4F5361"/>
                </a:solidFill>
                <a:latin typeface="Neuromax"/>
              </a:rPr>
              <a:t>2D y 3D para móvil y web.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5074920"/>
            <a:ext cx="11055096" cy="512064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074920"/>
            <a:ext cx="10241280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es-MX">
                <a:solidFill>
                  <a:srgbClr val="FFFFFF"/>
                </a:solidFill>
                <a:latin typeface="Neuromax SemBd"/>
              </a:rPr>
              <a:t>Si el juego es pequeño y concreto, una herramienta especializada puede ser mejor que un motor general.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502920"/>
            <a:ext cx="1097280" cy="478144"/>
          </a:xfrm>
          <a:prstGeom prst="rect">
            <a:avLst/>
          </a:prstGeom>
        </p:spPr>
      </p:pic>
      <p:pic>
        <p:nvPicPr>
          <p:cNvPr id="4" name="Picture 3" descr="tree-sm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4160520"/>
            <a:ext cx="1138270" cy="1737360"/>
          </a:xfrm>
          <a:prstGeom prst="rect">
            <a:avLst/>
          </a:prstGeom>
        </p:spPr>
      </p:pic>
      <p:pic>
        <p:nvPicPr>
          <p:cNvPr id="5" name="Picture 4" descr="ch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5074920"/>
            <a:ext cx="1325880" cy="703047"/>
          </a:xfrm>
          <a:prstGeom prst="rect">
            <a:avLst/>
          </a:prstGeom>
        </p:spPr>
      </p:pic>
      <p:pic>
        <p:nvPicPr>
          <p:cNvPr id="6" name="Picture 5" descr="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4023360"/>
            <a:ext cx="640080" cy="609391"/>
          </a:xfrm>
          <a:prstGeom prst="rect">
            <a:avLst/>
          </a:prstGeom>
        </p:spPr>
      </p:pic>
      <p:pic>
        <p:nvPicPr>
          <p:cNvPr id="7" name="Picture 6" descr="mushroo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5257800"/>
            <a:ext cx="594360" cy="35796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301752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65176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110">
                <a:solidFill>
                  <a:srgbClr val="963700"/>
                </a:solidFill>
                <a:latin typeface="Neuromax SemBd"/>
              </a:rPr>
              <a:t>BLOQUE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024128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sz="7400" b="0" i="0" lang="es-MX">
                <a:solidFill>
                  <a:srgbClr val="F08A3C"/>
                </a:solidFill>
                <a:latin typeface="Neuromax SemB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658368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 lang="es-MX">
                <a:solidFill>
                  <a:srgbClr val="131315"/>
                </a:solidFill>
                <a:latin typeface="Neuromax SemBd"/>
              </a:rPr>
              <a:t>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24612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lang="es-MX">
                <a:solidFill>
                  <a:srgbClr val="4F5361"/>
                </a:solidFill>
                <a:latin typeface="Neuromax"/>
              </a:rPr>
              <a:t>El generalista que equilibra.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822191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es-MX" spc="80">
                <a:solidFill>
                  <a:srgbClr val="963700"/>
                </a:solidFill>
                <a:latin typeface="Neuromax SemBd"/>
              </a:rPr>
              <a:t>2D · 3D · C# · VR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loud-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64592"/>
            <a:ext cx="731520" cy="3084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251460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110">
                <a:solidFill>
                  <a:srgbClr val="963700"/>
                </a:solidFill>
                <a:latin typeface="Neuromax SemBd"/>
              </a:rPr>
              <a:t>8.2.2 · 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92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lang="es-MX">
                <a:solidFill>
                  <a:srgbClr val="131315"/>
                </a:solidFill>
                <a:latin typeface="Neuromax SemBd"/>
              </a:rPr>
              <a:t>UNITY EN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7899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4F5361"/>
                </a:solidFill>
                <a:latin typeface="Neuromax"/>
              </a:rPr>
              <a:t>Un motor para casi cualquier plataforma y casi cualquier idea.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5760720" cy="3310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ditor de Unity 6.3 con una escena 3D"/>
          <p:cNvPicPr>
            <a:picLocks noChangeAspect="1"/>
          </p:cNvPicPr>
          <p:nvPr/>
        </p:nvPicPr>
        <p:blipFill>
          <a:blip r:embed="rId4"/>
          <a:srcRect t="164" b="164"/>
          <a:stretch>
            <a:fillRect/>
          </a:stretch>
        </p:blipFill>
        <p:spPr>
          <a:xfrm>
            <a:off x="658368" y="1719072"/>
            <a:ext cx="5577840" cy="31272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001768"/>
            <a:ext cx="55778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es-MX">
                <a:solidFill>
                  <a:srgbClr val="4F5361"/>
                </a:solidFill>
                <a:latin typeface="Neuromax"/>
              </a:rPr>
              <a:t>Unity 6.3 LTS · soporte a largo plazo hasta 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664208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963700"/>
                </a:solidFill>
                <a:latin typeface="Neuromax SemBd"/>
              </a:rPr>
              <a:t>C# LEGIBLE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993392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s-MX">
                <a:solidFill>
                  <a:srgbClr val="4F5361"/>
                </a:solidFill>
                <a:latin typeface="Neuromax"/>
              </a:rPr>
              <a:t>Un lenguaje muy usado y con documentación abundante.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74320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963700"/>
                </a:solidFill>
                <a:latin typeface="Neuromax SemBd"/>
              </a:rPr>
              <a:t>COMUNIDAD ENORME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72384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s-MX">
                <a:solidFill>
                  <a:srgbClr val="4F5361"/>
                </a:solidFill>
                <a:latin typeface="Neuromax"/>
              </a:rPr>
              <a:t>Cursos, foros, ejemplos y recursos para casi todo.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822191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963700"/>
                </a:solidFill>
                <a:latin typeface="Neuromax SemBd"/>
              </a:rPr>
              <a:t>MULTIPLATAFORMA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151376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s-MX">
                <a:solidFill>
                  <a:srgbClr val="4F5361"/>
                </a:solidFill>
                <a:latin typeface="Neuromax"/>
              </a:rPr>
              <a:t>PC, móvil, consola, web, VR y 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51460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110">
                <a:solidFill>
                  <a:srgbClr val="963700"/>
                </a:solidFill>
                <a:latin typeface="Neuromax SemBd"/>
              </a:rPr>
              <a:t>8.2.2 · 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lang="es-MX">
                <a:solidFill>
                  <a:srgbClr val="131315"/>
                </a:solidFill>
                <a:latin typeface="Neuromax SemBd"/>
              </a:rPr>
              <a:t>UNITY: DÓNDE DUELE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4F5361"/>
                </a:solidFill>
                <a:latin typeface="Neuromax"/>
              </a:rPr>
              <a:t>No es gratis para siempre ni es el más ligero.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5367528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68580" cy="137160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73936"/>
            <a:ext cx="502005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131315"/>
                </a:solidFill>
                <a:latin typeface="Neuromax SemBd"/>
              </a:rPr>
              <a:t>LICENCIA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76272"/>
            <a:ext cx="5001768" cy="7863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es-MX">
                <a:solidFill>
                  <a:srgbClr val="4F5361"/>
                </a:solidFill>
                <a:latin typeface="Neuromax"/>
              </a:rPr>
              <a:t>Gratis hasta 200 mil USD de ingresos o fondos. Después, Pro.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688336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es-MX">
                <a:solidFill>
                  <a:srgbClr val="963700"/>
                </a:solidFill>
                <a:latin typeface="Neuromax"/>
              </a:rPr>
              <a:t>Personal no publica en consolas.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1664208"/>
            <a:ext cx="5367528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4496" y="1664208"/>
            <a:ext cx="68580" cy="1371600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773936"/>
            <a:ext cx="502005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131315"/>
                </a:solidFill>
                <a:latin typeface="Neuromax SemBd"/>
              </a:rPr>
              <a:t>PESO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76272"/>
            <a:ext cx="5001768" cy="7863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es-MX">
                <a:solidFill>
                  <a:srgbClr val="4F5361"/>
                </a:solidFill>
                <a:latin typeface="Neuromax"/>
              </a:rPr>
              <a:t>Pesa más que Godot y tarda en abrir proyectos grandes.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88336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es-MX">
                <a:solidFill>
                  <a:srgbClr val="963700"/>
                </a:solidFill>
                <a:latin typeface="Neuromax"/>
              </a:rPr>
              <a:t>El editor y los recursos ocupan varios GB.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218688"/>
            <a:ext cx="5367528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218688"/>
            <a:ext cx="68580" cy="137160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328416"/>
            <a:ext cx="502005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131315"/>
                </a:solidFill>
                <a:latin typeface="Neuromax SemBd"/>
              </a:rPr>
              <a:t>MEMORIA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3730752"/>
            <a:ext cx="5001768" cy="7863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es-MX">
                <a:solidFill>
                  <a:srgbClr val="4F5361"/>
                </a:solidFill>
                <a:latin typeface="Neuromax"/>
              </a:rPr>
              <a:t>C# libera memoria automáticamente; si generas basura, hay tirones.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4242816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es-MX">
                <a:solidFill>
                  <a:srgbClr val="963700"/>
                </a:solidFill>
                <a:latin typeface="Neuromax"/>
              </a:rPr>
              <a:t>Se nota al crear y destruir muchos objetos.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54496" y="3218688"/>
            <a:ext cx="5367528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4496" y="3218688"/>
            <a:ext cx="68580" cy="1371600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3328416"/>
            <a:ext cx="502005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131315"/>
                </a:solidFill>
                <a:latin typeface="Neuromax SemBd"/>
              </a:rPr>
              <a:t>DEPENDENCIAS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730752"/>
            <a:ext cx="5001768" cy="7863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es-MX">
                <a:solidFill>
                  <a:srgbClr val="4F5361"/>
                </a:solidFill>
                <a:latin typeface="Neuromax"/>
              </a:rPr>
              <a:t>Paquetes y recursos de terceros que a veces se rompen.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242816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es-MX">
                <a:solidFill>
                  <a:srgbClr val="963700"/>
                </a:solidFill>
                <a:latin typeface="Neuromax"/>
              </a:rPr>
              <a:t>Fija versiones y revisa licencias.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956048"/>
            <a:ext cx="11055096" cy="512064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956048"/>
            <a:ext cx="10241280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FFFFFF"/>
                </a:solidFill>
                <a:latin typeface="Neuromax SemBd"/>
              </a:rPr>
              <a:t>Úsalo si buscas equilibrio, empleo y muchas plataformas. No lo elijas solo por los gráficos.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51460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110">
                <a:solidFill>
                  <a:srgbClr val="963700"/>
                </a:solidFill>
                <a:latin typeface="Neuromax SemBd"/>
              </a:rPr>
              <a:t>8.2.6 · 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lang="es-MX">
                <a:solidFill>
                  <a:srgbClr val="131315"/>
                </a:solidFill>
                <a:latin typeface="Neuromax SemBd"/>
              </a:rPr>
              <a:t>UNITY NO ES SOLO PARA JUEGOS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4F5361"/>
                </a:solidFill>
                <a:latin typeface="Neuromax"/>
              </a:rPr>
              <a:t>El mismo motor sirve para simular, entrenar y visualizar.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3246120" cy="1389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68580" cy="138988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73936"/>
            <a:ext cx="2898647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es-MX">
                <a:solidFill>
                  <a:srgbClr val="131315"/>
                </a:solidFill>
                <a:latin typeface="Neuromax SemBd"/>
              </a:rPr>
              <a:t>ROBÓTICA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76272"/>
            <a:ext cx="2880360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es-MX">
                <a:solidFill>
                  <a:srgbClr val="4F5361"/>
                </a:solidFill>
                <a:latin typeface="Neuromax"/>
              </a:rPr>
              <a:t>Probar brazos, sensores y rutas antes de mover el robot real.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50208" y="1664208"/>
            <a:ext cx="3246120" cy="1389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50208" y="1664208"/>
            <a:ext cx="68580" cy="1389888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33088" y="1773936"/>
            <a:ext cx="2898647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es-MX">
                <a:solidFill>
                  <a:srgbClr val="131315"/>
                </a:solidFill>
                <a:latin typeface="Neuromax SemBd"/>
              </a:rPr>
              <a:t>GEMELOS DIGITALES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2232" y="2176272"/>
            <a:ext cx="2880360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es-MX">
                <a:solidFill>
                  <a:srgbClr val="4F5361"/>
                </a:solidFill>
                <a:latin typeface="Neuromax"/>
              </a:rPr>
              <a:t>Simular una fábrica, un auto o una ciudad en un mundo virtual.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36976"/>
            <a:ext cx="3246120" cy="1389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236976"/>
            <a:ext cx="68580" cy="138988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346704"/>
            <a:ext cx="2898647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es-MX">
                <a:solidFill>
                  <a:srgbClr val="131315"/>
                </a:solidFill>
                <a:latin typeface="Neuromax SemBd"/>
              </a:rPr>
              <a:t>CAPACITACIÓN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3749039"/>
            <a:ext cx="2880360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es-MX">
                <a:solidFill>
                  <a:srgbClr val="4F5361"/>
                </a:solidFill>
                <a:latin typeface="Neuromax"/>
              </a:rPr>
              <a:t>Entrenar en VR sin riesgo y repetir la práctica.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50208" y="3236976"/>
            <a:ext cx="3246120" cy="1389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50208" y="3236976"/>
            <a:ext cx="68580" cy="1389888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33088" y="3346704"/>
            <a:ext cx="2898647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es-MX">
                <a:solidFill>
                  <a:srgbClr val="131315"/>
                </a:solidFill>
                <a:latin typeface="Neuromax SemBd"/>
              </a:rPr>
              <a:t>CINE Y PRODUCTO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2232" y="3749039"/>
            <a:ext cx="2880360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es-MX">
                <a:solidFill>
                  <a:srgbClr val="4F5361"/>
                </a:solidFill>
                <a:latin typeface="Neuromax"/>
              </a:rPr>
              <a:t>Previsualización, tableros y configuradores.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43800" y="1627632"/>
            <a:ext cx="4069080" cy="297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ersona usando un casco de realidad virtual en una simulación"/>
          <p:cNvPicPr>
            <a:picLocks noChangeAspect="1"/>
          </p:cNvPicPr>
          <p:nvPr/>
        </p:nvPicPr>
        <p:blipFill>
          <a:blip r:embed="rId3"/>
          <a:srcRect l="3552" r="3552"/>
          <a:stretch>
            <a:fillRect/>
          </a:stretch>
        </p:blipFill>
        <p:spPr>
          <a:xfrm>
            <a:off x="7635240" y="1719072"/>
            <a:ext cx="3886200" cy="27889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635240" y="4754880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es-MX">
                <a:solidFill>
                  <a:srgbClr val="4F5361"/>
                </a:solidFill>
                <a:latin typeface="Neuromax"/>
              </a:rPr>
              <a:t>Entrenamiento con realidad virtual.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074920"/>
            <a:ext cx="11055096" cy="512064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074920"/>
            <a:ext cx="10241280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es-MX">
                <a:solidFill>
                  <a:srgbClr val="FFFFFF"/>
                </a:solidFill>
                <a:latin typeface="Neuromax SemBd"/>
              </a:rPr>
              <a:t>Por eso Unity también te sirve en robótica, VR o control, no solo en videojuegos.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502920"/>
            <a:ext cx="1097280" cy="478144"/>
          </a:xfrm>
          <a:prstGeom prst="rect">
            <a:avLst/>
          </a:prstGeom>
        </p:spPr>
      </p:pic>
      <p:pic>
        <p:nvPicPr>
          <p:cNvPr id="4" name="Picture 3" descr="tree-sm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4160520"/>
            <a:ext cx="1138270" cy="1737360"/>
          </a:xfrm>
          <a:prstGeom prst="rect">
            <a:avLst/>
          </a:prstGeom>
        </p:spPr>
      </p:pic>
      <p:pic>
        <p:nvPicPr>
          <p:cNvPr id="5" name="Picture 4" descr="ch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5074920"/>
            <a:ext cx="1325880" cy="703047"/>
          </a:xfrm>
          <a:prstGeom prst="rect">
            <a:avLst/>
          </a:prstGeom>
        </p:spPr>
      </p:pic>
      <p:pic>
        <p:nvPicPr>
          <p:cNvPr id="6" name="Picture 5" descr="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4023360"/>
            <a:ext cx="640080" cy="609391"/>
          </a:xfrm>
          <a:prstGeom prst="rect">
            <a:avLst/>
          </a:prstGeom>
        </p:spPr>
      </p:pic>
      <p:pic>
        <p:nvPicPr>
          <p:cNvPr id="7" name="Picture 6" descr="mushroo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5257800"/>
            <a:ext cx="594360" cy="35796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301752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65176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110">
                <a:solidFill>
                  <a:srgbClr val="963700"/>
                </a:solidFill>
                <a:latin typeface="Neuromax SemBd"/>
              </a:rPr>
              <a:t>BLOQUE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024128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sz="7400" b="0" i="0" lang="es-MX">
                <a:solidFill>
                  <a:srgbClr val="F08A3C"/>
                </a:solidFill>
                <a:latin typeface="Neuromax SemBd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658368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 lang="es-MX">
                <a:solidFill>
                  <a:srgbClr val="131315"/>
                </a:solidFill>
                <a:latin typeface="Neuromax SemBd"/>
              </a:rPr>
              <a:t>GODOT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24612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lang="es-MX">
                <a:solidFill>
                  <a:srgbClr val="4F5361"/>
                </a:solidFill>
                <a:latin typeface="Neuromax"/>
              </a:rPr>
              <a:t>El libre, el ligero, el de todos.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822191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es-MX" spc="80">
                <a:solidFill>
                  <a:srgbClr val="963700"/>
                </a:solidFill>
                <a:latin typeface="Neuromax SemBd"/>
              </a:rPr>
              <a:t>2D · 3D · MIT · GDScript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loud-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64592"/>
            <a:ext cx="731520" cy="3084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251460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110">
                <a:solidFill>
                  <a:srgbClr val="963700"/>
                </a:solidFill>
                <a:latin typeface="Neuromax SemBd"/>
              </a:rPr>
              <a:t>8.2.3 · GODOT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92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lang="es-MX">
                <a:solidFill>
                  <a:srgbClr val="131315"/>
                </a:solidFill>
                <a:latin typeface="Neuromax SemBd"/>
              </a:rPr>
              <a:t>GODOT EN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7899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4F5361"/>
                </a:solidFill>
                <a:latin typeface="Neuromax"/>
              </a:rPr>
              <a:t>Un editor pequeño con ideas grandes.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5760720" cy="3310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ditor de Godot 4.6 con una escena 3D"/>
          <p:cNvPicPr>
            <a:picLocks noChangeAspect="1"/>
          </p:cNvPicPr>
          <p:nvPr/>
        </p:nvPicPr>
        <p:blipFill>
          <a:blip r:embed="rId4"/>
          <a:srcRect t="1159" b="1159"/>
          <a:stretch>
            <a:fillRect/>
          </a:stretch>
        </p:blipFill>
        <p:spPr>
          <a:xfrm>
            <a:off x="658368" y="1719072"/>
            <a:ext cx="5577840" cy="31272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001768"/>
            <a:ext cx="55778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es-MX">
                <a:solidFill>
                  <a:srgbClr val="4F5361"/>
                </a:solidFill>
                <a:latin typeface="Neuromax"/>
              </a:rPr>
              <a:t>Godot 4.6 · editor con una escena 3D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664208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963700"/>
                </a:solidFill>
                <a:latin typeface="Neuromax SemBd"/>
              </a:rPr>
              <a:t>MIT: GRATIS SIEMPRE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993392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s-MX">
                <a:solidFill>
                  <a:srgbClr val="4F5361"/>
                </a:solidFill>
                <a:latin typeface="Neuromax"/>
              </a:rPr>
              <a:t>Sin regalías ni cuotas, aunque vendas el juego.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74320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963700"/>
                </a:solidFill>
                <a:latin typeface="Neuromax SemBd"/>
              </a:rPr>
              <a:t>LIGERO Y RÁPIDO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72384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s-MX">
                <a:solidFill>
                  <a:srgbClr val="4F5361"/>
                </a:solidFill>
                <a:latin typeface="Neuromax"/>
              </a:rPr>
              <a:t>Abre en segundos y corre en computadoras modestas.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822191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963700"/>
                </a:solidFill>
                <a:latin typeface="Neuromax SemBd"/>
              </a:rPr>
              <a:t>2D SENCILLO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151376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s-MX">
                <a:solidFill>
                  <a:srgbClr val="4F5361"/>
                </a:solidFill>
                <a:latin typeface="Neuromax"/>
              </a:rPr>
              <a:t>Escenas y nodos fáciles de entender al inicio.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496519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 lang="es-MX">
                <a:solidFill>
                  <a:srgbClr val="4F5361"/>
                </a:solidFill>
                <a:latin typeface="Neuromax"/>
              </a:rPr>
              <a:t>Versión actual: Godot 4.6 (enero de 2026).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51460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110">
                <a:solidFill>
                  <a:srgbClr val="963700"/>
                </a:solidFill>
                <a:latin typeface="Neuromax SemBd"/>
              </a:rPr>
              <a:t>8.2.3 · GODOT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lang="es-MX">
                <a:solidFill>
                  <a:srgbClr val="131315"/>
                </a:solidFill>
                <a:latin typeface="Neuromax SemBd"/>
              </a:rPr>
              <a:t>GODOT: DÓNDE DUELE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4F5361"/>
                </a:solidFill>
                <a:latin typeface="Neuromax"/>
              </a:rPr>
              <a:t>Libre no significa que todo sea fácil.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5367528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68580" cy="137160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73936"/>
            <a:ext cx="502005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131315"/>
                </a:solidFill>
                <a:latin typeface="Neuromax SemBd"/>
              </a:rPr>
              <a:t>3D DE ALTA GAMA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76272"/>
            <a:ext cx="5001768" cy="7863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es-MX">
                <a:solidFill>
                  <a:srgbClr val="4F5361"/>
                </a:solidFill>
                <a:latin typeface="Neuromax"/>
              </a:rPr>
              <a:t>Le falta potencia y herramientas frente a Unreal.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688336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es-MX">
                <a:solidFill>
                  <a:srgbClr val="963700"/>
                </a:solidFill>
                <a:latin typeface="Neuromax"/>
              </a:rPr>
              <a:t>Para un indie estilizado, alcanza.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1664208"/>
            <a:ext cx="5367528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4496" y="1664208"/>
            <a:ext cx="68580" cy="1371600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773936"/>
            <a:ext cx="502005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131315"/>
                </a:solidFill>
                <a:latin typeface="Neuromax SemBd"/>
              </a:rPr>
              <a:t>CONSOLAS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76272"/>
            <a:ext cx="5001768" cy="7863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es-MX">
                <a:solidFill>
                  <a:srgbClr val="4F5361"/>
                </a:solidFill>
                <a:latin typeface="Neuromax"/>
              </a:rPr>
              <a:t>PlayStation, Xbox y Switch requieren un socio que haga el porte.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88336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es-MX">
                <a:solidFill>
                  <a:srgbClr val="963700"/>
                </a:solidFill>
                <a:latin typeface="Neuromax"/>
              </a:rPr>
              <a:t>W4 Games ofrece portes oficiales.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218688"/>
            <a:ext cx="5367528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218688"/>
            <a:ext cx="68580" cy="137160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328416"/>
            <a:ext cx="502005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131315"/>
                </a:solidFill>
                <a:latin typeface="Neuromax SemBd"/>
              </a:rPr>
              <a:t>ECOSISTEMA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3730752"/>
            <a:ext cx="5001768" cy="7863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es-MX">
                <a:solidFill>
                  <a:srgbClr val="4F5361"/>
                </a:solidFill>
                <a:latin typeface="Neuromax"/>
              </a:rPr>
              <a:t>Menos recursos, complementos y ofertas de trabajo que Unity.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4242816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es-MX">
                <a:solidFill>
                  <a:srgbClr val="963700"/>
                </a:solidFill>
                <a:latin typeface="Neuromax"/>
              </a:rPr>
              <a:t>La comunidad crece, pero es más pequeña.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54496" y="3218688"/>
            <a:ext cx="5367528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4496" y="3218688"/>
            <a:ext cx="68580" cy="1371600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3328416"/>
            <a:ext cx="502005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131315"/>
                </a:solidFill>
                <a:latin typeface="Neuromax SemBd"/>
              </a:rPr>
              <a:t>C#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730752"/>
            <a:ext cx="5001768" cy="7863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es-MX">
                <a:solidFill>
                  <a:srgbClr val="4F5361"/>
                </a:solidFill>
                <a:latin typeface="Neuromax"/>
              </a:rPr>
              <a:t>Funciona, pero GDScript es el camino principal.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242816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es-MX">
                <a:solidFill>
                  <a:srgbClr val="963700"/>
                </a:solidFill>
                <a:latin typeface="Neuromax"/>
              </a:rPr>
              <a:t>C# requiere .NET instalado.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956048"/>
            <a:ext cx="11055096" cy="512064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956048"/>
            <a:ext cx="10241280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FFFFFF"/>
                </a:solidFill>
                <a:latin typeface="Neuromax SemBd"/>
              </a:rPr>
              <a:t>Úsalo para aprender, para 2D o para publicar sin pagar regalías.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502920"/>
            <a:ext cx="1097280" cy="478144"/>
          </a:xfrm>
          <a:prstGeom prst="rect">
            <a:avLst/>
          </a:prstGeom>
        </p:spPr>
      </p:pic>
      <p:pic>
        <p:nvPicPr>
          <p:cNvPr id="4" name="Picture 3" descr="tree-sm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4160520"/>
            <a:ext cx="1138270" cy="1737360"/>
          </a:xfrm>
          <a:prstGeom prst="rect">
            <a:avLst/>
          </a:prstGeom>
        </p:spPr>
      </p:pic>
      <p:pic>
        <p:nvPicPr>
          <p:cNvPr id="5" name="Picture 4" descr="ch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5074920"/>
            <a:ext cx="1325880" cy="703047"/>
          </a:xfrm>
          <a:prstGeom prst="rect">
            <a:avLst/>
          </a:prstGeom>
        </p:spPr>
      </p:pic>
      <p:pic>
        <p:nvPicPr>
          <p:cNvPr id="6" name="Picture 5" descr="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4023360"/>
            <a:ext cx="640080" cy="609391"/>
          </a:xfrm>
          <a:prstGeom prst="rect">
            <a:avLst/>
          </a:prstGeom>
        </p:spPr>
      </p:pic>
      <p:pic>
        <p:nvPicPr>
          <p:cNvPr id="7" name="Picture 6" descr="mushroo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5257800"/>
            <a:ext cx="594360" cy="35796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301752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65176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110">
                <a:solidFill>
                  <a:srgbClr val="963700"/>
                </a:solidFill>
                <a:latin typeface="Neuromax SemBd"/>
              </a:rPr>
              <a:t>BLOQUE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024128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sz="7400" b="0" i="0" lang="es-MX">
                <a:solidFill>
                  <a:srgbClr val="F08A3C"/>
                </a:solidFill>
                <a:latin typeface="Neuromax SemBd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658368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 lang="es-MX">
                <a:solidFill>
                  <a:srgbClr val="131315"/>
                </a:solidFill>
                <a:latin typeface="Neuromax SemBd"/>
              </a:rPr>
              <a:t>UNREAL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 lang="es-MX">
                <a:solidFill>
                  <a:srgbClr val="131315"/>
                </a:solidFill>
                <a:latin typeface="Neuromax SemBd"/>
              </a:rPr>
              <a:t>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767328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lang="es-MX">
                <a:solidFill>
                  <a:srgbClr val="4F5361"/>
                </a:solidFill>
                <a:latin typeface="Neuromax"/>
              </a:rPr>
              <a:t>El motor de los gráficos de cine.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498848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80">
                <a:solidFill>
                  <a:srgbClr val="963700"/>
                </a:solidFill>
                <a:latin typeface="Neuromax SemBd"/>
              </a:rPr>
              <a:t>3D · C++ · BLUEPRINTS · CINE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loud-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64592"/>
            <a:ext cx="731520" cy="3084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251460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110">
                <a:solidFill>
                  <a:srgbClr val="963700"/>
                </a:solidFill>
                <a:latin typeface="Neuromax SemBd"/>
              </a:rPr>
              <a:t>8.2.4 · UNREAL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92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lang="es-MX">
                <a:solidFill>
                  <a:srgbClr val="131315"/>
                </a:solidFill>
                <a:latin typeface="Neuromax SemBd"/>
              </a:rPr>
              <a:t>UNREAL EN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7899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4F5361"/>
                </a:solidFill>
                <a:latin typeface="Neuromax"/>
              </a:rPr>
              <a:t>La referencia cuando la imagen es la prioridad.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5760720" cy="3310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scena 3D creada en Unreal Engine 5"/>
          <p:cNvPicPr>
            <a:picLocks noChangeAspect="1"/>
          </p:cNvPicPr>
          <p:nvPr/>
        </p:nvPicPr>
        <p:blipFill>
          <a:blip r:embed="rId4"/>
          <a:srcRect t="164" b="164"/>
          <a:stretch>
            <a:fillRect/>
          </a:stretch>
        </p:blipFill>
        <p:spPr>
          <a:xfrm>
            <a:off x="658368" y="1719072"/>
            <a:ext cx="5577840" cy="31272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001768"/>
            <a:ext cx="55778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es-MX">
                <a:solidFill>
                  <a:srgbClr val="4F5361"/>
                </a:solidFill>
                <a:latin typeface="Neuromax"/>
              </a:rPr>
              <a:t>Escena creada en Unreal Engine 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664208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963700"/>
                </a:solidFill>
                <a:latin typeface="Neuromax SemBd"/>
              </a:rPr>
              <a:t>CALIDAD VISUAL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993392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s-MX">
                <a:solidFill>
                  <a:srgbClr val="4F5361"/>
                </a:solidFill>
                <a:latin typeface="Neuromax"/>
              </a:rPr>
              <a:t>Nanite y Lumen: geometría densa y luz realista.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74320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963700"/>
                </a:solidFill>
                <a:latin typeface="Neuromax SemBd"/>
              </a:rPr>
              <a:t>MUNDOS Y PERSONAJES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72384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s-MX">
                <a:solidFill>
                  <a:srgbClr val="4F5361"/>
                </a:solidFill>
                <a:latin typeface="Neuromax"/>
              </a:rPr>
              <a:t>MetaHuman, animación y herramientas de cine.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822191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963700"/>
                </a:solidFill>
                <a:latin typeface="Neuromax SemBd"/>
              </a:rPr>
              <a:t>C++ O BLUEPRINTS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151376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s-MX">
                <a:solidFill>
                  <a:srgbClr val="4F5361"/>
                </a:solidFill>
                <a:latin typeface="Neuromax"/>
              </a:rPr>
              <a:t>C++ para potencia; Blueprints para prototipos.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496519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 lang="es-MX">
                <a:solidFill>
                  <a:srgbClr val="4F5361"/>
                </a:solidFill>
                <a:latin typeface="Neuromax"/>
              </a:rPr>
              <a:t>Versión actual: Unreal Engine 5.8 (junio de 2026).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51460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110">
                <a:solidFill>
                  <a:srgbClr val="963700"/>
                </a:solidFill>
                <a:latin typeface="Neuromax SemBd"/>
              </a:rPr>
              <a:t>8.2.4 · UNREAL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lang="es-MX">
                <a:solidFill>
                  <a:srgbClr val="131315"/>
                </a:solidFill>
                <a:latin typeface="Neuromax SemBd"/>
              </a:rPr>
              <a:t>UNREAL: DÓNDE DUELE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4F5361"/>
                </a:solidFill>
                <a:latin typeface="Neuromax"/>
              </a:rPr>
              <a:t>La potencia se paga en hardware y tiempo.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5367528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68580" cy="137160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73936"/>
            <a:ext cx="502005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131315"/>
                </a:solidFill>
                <a:latin typeface="Neuromax SemBd"/>
              </a:rPr>
              <a:t>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76272"/>
            <a:ext cx="5001768" cy="7863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es-MX">
                <a:solidFill>
                  <a:srgbClr val="4F5361"/>
                </a:solidFill>
                <a:latin typeface="Neuromax"/>
              </a:rPr>
              <a:t>Pide una computadora potente y mucho espacio en disco.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688336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es-MX">
                <a:solidFill>
                  <a:srgbClr val="963700"/>
                </a:solidFill>
                <a:latin typeface="Neuromax"/>
              </a:rPr>
              <a:t>Una laptop básica sufre.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1664208"/>
            <a:ext cx="5367528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4496" y="1664208"/>
            <a:ext cx="68580" cy="1371600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773936"/>
            <a:ext cx="502005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131315"/>
                </a:solidFill>
                <a:latin typeface="Neuromax SemBd"/>
              </a:rPr>
              <a:t>CURVA DE APRENDIZAJE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76272"/>
            <a:ext cx="5001768" cy="7863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es-MX">
                <a:solidFill>
                  <a:srgbClr val="4F5361"/>
                </a:solidFill>
                <a:latin typeface="Neuromax"/>
              </a:rPr>
              <a:t>C++ y el editor son más difíciles al inicio.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88336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es-MX">
                <a:solidFill>
                  <a:srgbClr val="963700"/>
                </a:solidFill>
                <a:latin typeface="Neuromax"/>
              </a:rPr>
              <a:t>Blueprints ayudan a empezar.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218688"/>
            <a:ext cx="5367528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218688"/>
            <a:ext cx="68580" cy="137160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328416"/>
            <a:ext cx="502005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131315"/>
                </a:solidFill>
                <a:latin typeface="Neuromax SemBd"/>
              </a:rPr>
              <a:t>TIEMPOS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3730752"/>
            <a:ext cx="5001768" cy="7863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es-MX">
                <a:solidFill>
                  <a:srgbClr val="4F5361"/>
                </a:solidFill>
                <a:latin typeface="Neuromax"/>
              </a:rPr>
              <a:t>Compilar y preparar el juego puede tardar mucho.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4242816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es-MX">
                <a:solidFill>
                  <a:srgbClr val="963700"/>
                </a:solidFill>
                <a:latin typeface="Neuromax"/>
              </a:rPr>
              <a:t>La iteración se vuelve lenta.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54496" y="3218688"/>
            <a:ext cx="5367528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4496" y="3218688"/>
            <a:ext cx="68580" cy="1371600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3328416"/>
            <a:ext cx="502005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131315"/>
                </a:solidFill>
                <a:latin typeface="Neuromax SemBd"/>
              </a:rPr>
              <a:t>BLUEPRINTS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730752"/>
            <a:ext cx="5001768" cy="7863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es-MX">
                <a:solidFill>
                  <a:srgbClr val="4F5361"/>
                </a:solidFill>
                <a:latin typeface="Neuromax"/>
              </a:rPr>
              <a:t>Fáciles de empezar; difíciles de mantener si crecen.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242816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es-MX">
                <a:solidFill>
                  <a:srgbClr val="963700"/>
                </a:solidFill>
                <a:latin typeface="Neuromax"/>
              </a:rPr>
              <a:t>Un grafo enorme es difícil de depurar.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956048"/>
            <a:ext cx="11055096" cy="512064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956048"/>
            <a:ext cx="10241280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es-MX">
                <a:solidFill>
                  <a:srgbClr val="FFFFFF"/>
                </a:solidFill>
                <a:latin typeface="Neuromax SemBd"/>
              </a:rPr>
              <a:t>Úsalo si tu prioridad es la imagen 3D o un mundo grande. Para 2D o un prototipo, es demasiado.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loud-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64592"/>
            <a:ext cx="731520" cy="3084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251460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110">
                <a:solidFill>
                  <a:srgbClr val="963700"/>
                </a:solidFill>
                <a:latin typeface="Neuromax SemBd"/>
              </a:rPr>
              <a:t>8.2.1 · PHASER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92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lang="es-MX">
                <a:solidFill>
                  <a:srgbClr val="131315"/>
                </a:solidFill>
                <a:latin typeface="Neuromax SemBd"/>
              </a:rPr>
              <a:t>PHASER: JUEGOS EN EL NAVEGADOR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7899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4F5361"/>
                </a:solidFill>
                <a:latin typeface="Neuromax"/>
              </a:rPr>
              <a:t>Una biblioteca 2D para JavaScript y TypeScript.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3977639" cy="3154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ha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149" y="1874519"/>
            <a:ext cx="2295196" cy="1965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416052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s-MX">
                <a:solidFill>
                  <a:srgbClr val="963700"/>
                </a:solidFill>
                <a:latin typeface="Neuromax SemBd"/>
              </a:rPr>
              <a:t>Phaser 4 · abril de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498848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s-MX">
                <a:solidFill>
                  <a:srgbClr val="4F5361"/>
                </a:solidFill>
                <a:latin typeface="Neuromax"/>
              </a:rPr>
              <a:t>Licencia 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642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s-MX">
                <a:solidFill>
                  <a:srgbClr val="963700"/>
                </a:solidFill>
                <a:latin typeface="Neuromax SemBd"/>
              </a:rPr>
              <a:t>A FAVOR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2029968"/>
            <a:ext cx="64008" cy="6400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1993392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es-MX">
                <a:solidFill>
                  <a:srgbClr val="4F5361"/>
                </a:solidFill>
                <a:latin typeface="Neuromax"/>
              </a:rPr>
              <a:t>Corre en cualquier navegador, sin instalar nada.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2596896"/>
            <a:ext cx="64008" cy="6400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2560320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es-MX">
                <a:solidFill>
                  <a:srgbClr val="4F5361"/>
                </a:solidFill>
                <a:latin typeface="Neuromax"/>
              </a:rPr>
              <a:t>Publicar es casi tan simple como subir una carpeta.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3163824"/>
            <a:ext cx="64008" cy="6400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3127248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es-MX">
                <a:solidFill>
                  <a:srgbClr val="4F5361"/>
                </a:solidFill>
                <a:latin typeface="Neuromax"/>
              </a:rPr>
              <a:t>Se integra con React, Vue o una web normal.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3730752"/>
            <a:ext cx="64008" cy="6400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3694176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es-MX">
                <a:solidFill>
                  <a:srgbClr val="4F5361"/>
                </a:solidFill>
                <a:latin typeface="Neuromax"/>
              </a:rPr>
              <a:t>Física, escenas y audio incluidos.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4297680"/>
            <a:ext cx="64008" cy="6400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4261104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es-MX">
                <a:solidFill>
                  <a:srgbClr val="4F5361"/>
                </a:solidFill>
                <a:latin typeface="Neuromax"/>
              </a:rPr>
              <a:t>Licencia MIT y comunidad web enorme.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166420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s-MX">
                <a:solidFill>
                  <a:srgbClr val="A81E49"/>
                </a:solidFill>
                <a:latin typeface="Neuromax SemBd"/>
              </a:rPr>
              <a:t>EN CONTRA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20" y="2029968"/>
            <a:ext cx="64008" cy="64008"/>
          </a:xfrm>
          <a:prstGeom prst="rect">
            <a:avLst/>
          </a:prstGeom>
          <a:solidFill>
            <a:srgbClr val="A81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1993392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es-MX">
                <a:solidFill>
                  <a:srgbClr val="4F5361"/>
                </a:solidFill>
                <a:latin typeface="Neuromax"/>
              </a:rPr>
              <a:t>Solo 2D.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2596896"/>
            <a:ext cx="64008" cy="64008"/>
          </a:xfrm>
          <a:prstGeom prst="rect">
            <a:avLst/>
          </a:prstGeom>
          <a:solidFill>
            <a:srgbClr val="A81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2560320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es-MX">
                <a:solidFill>
                  <a:srgbClr val="4F5361"/>
                </a:solidFill>
                <a:latin typeface="Neuromax"/>
              </a:rPr>
              <a:t>JavaScript exige cuidar el rendimiento.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20" y="3163824"/>
            <a:ext cx="64008" cy="64008"/>
          </a:xfrm>
          <a:prstGeom prst="rect">
            <a:avLst/>
          </a:prstGeom>
          <a:solidFill>
            <a:srgbClr val="A81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3127248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es-MX">
                <a:solidFill>
                  <a:srgbClr val="4F5361"/>
                </a:solidFill>
                <a:latin typeface="Neuromax"/>
              </a:rPr>
              <a:t>No hay un editor visual obligatorio.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20" y="3730752"/>
            <a:ext cx="64008" cy="64008"/>
          </a:xfrm>
          <a:prstGeom prst="rect">
            <a:avLst/>
          </a:prstGeom>
          <a:solidFill>
            <a:srgbClr val="A81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3694176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es-MX">
                <a:solidFill>
                  <a:srgbClr val="4F5361"/>
                </a:solidFill>
                <a:latin typeface="Neuromax"/>
              </a:rPr>
              <a:t>El 3D no es su objetivo.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20" y="4297680"/>
            <a:ext cx="64008" cy="64008"/>
          </a:xfrm>
          <a:prstGeom prst="rect">
            <a:avLst/>
          </a:prstGeom>
          <a:solidFill>
            <a:srgbClr val="A81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4261104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es-MX">
                <a:solidFill>
                  <a:srgbClr val="4F5361"/>
                </a:solidFill>
                <a:latin typeface="Neuromax"/>
              </a:rPr>
              <a:t>Las consolas no son su camino natural.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5074920"/>
            <a:ext cx="11055096" cy="512064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074920"/>
            <a:ext cx="10241280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s-MX">
                <a:solidFill>
                  <a:srgbClr val="FFFFFF"/>
                </a:solidFill>
                <a:latin typeface="Neuromax SemBd"/>
              </a:rPr>
              <a:t>Ideal para game jams, juegos web y prototipos rápidos.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51460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110">
                <a:solidFill>
                  <a:srgbClr val="963700"/>
                </a:solidFill>
                <a:latin typeface="Neuromax SemBd"/>
              </a:rPr>
              <a:t>8.2.5 · SELECCIÓN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lang="es-MX">
                <a:solidFill>
                  <a:srgbClr val="131315"/>
                </a:solidFill>
                <a:latin typeface="Neuromax SemBd"/>
              </a:rPr>
              <a:t>COMPARACIÓN RÁPIDA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4F5361"/>
                </a:solidFill>
                <a:latin typeface="Neuromax"/>
              </a:rPr>
              <a:t>La misma decisión, en una tabla.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645920"/>
          <a:ext cx="11055096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148840"/>
                <a:gridCol w="1417320"/>
                <a:gridCol w="3063240"/>
                <a:gridCol w="3008376"/>
              </a:tblGrid>
              <a:tr h="56388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lang="es-MX">
                          <a:solidFill>
                            <a:srgbClr val="FFFFFF"/>
                          </a:solidFill>
                          <a:latin typeface="Neuromax SemBd"/>
                        </a:rPr>
                        <a:t>MOTOR</a:t>
                      </a:r>
                    </a:p>
                  </a:txBody>
                  <a:tcPr marL="73152" marR="54864" marT="27432" marB="27432" anchor="ctr">
                    <a:solidFill>
                      <a:srgbClr val="313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lang="es-MX">
                          <a:solidFill>
                            <a:srgbClr val="FFFFFF"/>
                          </a:solidFill>
                          <a:latin typeface="Neuromax SemBd"/>
                        </a:rPr>
                        <a:t>LENGUAJE</a:t>
                      </a:r>
                    </a:p>
                  </a:txBody>
                  <a:tcPr marL="73152" marR="54864" marT="27432" marB="27432" anchor="ctr">
                    <a:solidFill>
                      <a:srgbClr val="313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lang="es-MX">
                          <a:solidFill>
                            <a:srgbClr val="FFFFFF"/>
                          </a:solidFill>
                          <a:latin typeface="Neuromax SemBd"/>
                        </a:rPr>
                        <a:t>2D / 3D</a:t>
                      </a:r>
                    </a:p>
                  </a:txBody>
                  <a:tcPr marL="73152" marR="54864" marT="27432" marB="27432" anchor="ctr">
                    <a:solidFill>
                      <a:srgbClr val="313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lang="es-MX">
                          <a:solidFill>
                            <a:srgbClr val="FFFFFF"/>
                          </a:solidFill>
                          <a:latin typeface="Neuromax SemBd"/>
                        </a:rPr>
                        <a:t>LICENCIA</a:t>
                      </a:r>
                    </a:p>
                  </a:txBody>
                  <a:tcPr marL="73152" marR="54864" marT="27432" marB="27432" anchor="ctr">
                    <a:solidFill>
                      <a:srgbClr val="313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lang="es-MX">
                          <a:solidFill>
                            <a:srgbClr val="FFFFFF"/>
                          </a:solidFill>
                          <a:latin typeface="Neuromax SemBd"/>
                        </a:rPr>
                        <a:t>IDEAL PARA</a:t>
                      </a:r>
                    </a:p>
                  </a:txBody>
                  <a:tcPr marL="73152" marR="54864" marT="27432" marB="27432" anchor="ctr">
                    <a:solidFill>
                      <a:srgbClr val="31324A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lang="es-MX">
                          <a:solidFill>
                            <a:srgbClr val="131315"/>
                          </a:solidFill>
                          <a:latin typeface="Neuromax SemBd"/>
                        </a:rPr>
                        <a:t>Unity</a:t>
                      </a:r>
                    </a:p>
                  </a:txBody>
                  <a:tcPr marL="73152" marR="54864" marT="27432" marB="27432" anchor="ctr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80" lang="es-MX">
                          <a:solidFill>
                            <a:srgbClr val="4F5361"/>
                          </a:solidFill>
                          <a:latin typeface="Neuromax"/>
                        </a:rPr>
                        <a:t>C#</a:t>
                      </a:r>
                    </a:p>
                  </a:txBody>
                  <a:tcPr marL="73152" marR="54864" marT="27432" marB="27432" anchor="ctr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80" lang="es-MX">
                          <a:solidFill>
                            <a:srgbClr val="4F5361"/>
                          </a:solidFill>
                          <a:latin typeface="Neuromax"/>
                        </a:rPr>
                        <a:t>2D y 3D</a:t>
                      </a:r>
                    </a:p>
                  </a:txBody>
                  <a:tcPr marL="73152" marR="54864" marT="27432" marB="27432" anchor="ctr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80" lang="es-MX">
                          <a:solidFill>
                            <a:srgbClr val="4F5361"/>
                          </a:solidFill>
                          <a:latin typeface="Neuromax"/>
                        </a:rPr>
                        <a:t>Gratis hasta 200 mil USD; Pro 2,310 USD/año</a:t>
                      </a:r>
                    </a:p>
                  </a:txBody>
                  <a:tcPr marL="73152" marR="54864" marT="27432" marB="27432" anchor="ctr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80" lang="es-MX">
                          <a:solidFill>
                            <a:srgbClr val="4F5361"/>
                          </a:solidFill>
                          <a:latin typeface="Neuromax"/>
                        </a:rPr>
                        <a:t>Móvil, VR, simulación</a:t>
                      </a:r>
                    </a:p>
                  </a:txBody>
                  <a:tcPr marL="73152" marR="54864" marT="27432" marB="27432" anchor="ctr">
                    <a:solidFill>
                      <a:srgbClr val="F7F3EA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lang="es-MX">
                          <a:solidFill>
                            <a:srgbClr val="131315"/>
                          </a:solidFill>
                          <a:latin typeface="Neuromax SemBd"/>
                        </a:rPr>
                        <a:t>Godot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80" lang="es-MX">
                          <a:solidFill>
                            <a:srgbClr val="4F5361"/>
                          </a:solidFill>
                          <a:latin typeface="Neuromax"/>
                        </a:rPr>
                        <a:t>GDScript y C#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80" lang="es-MX">
                          <a:solidFill>
                            <a:srgbClr val="4F5361"/>
                          </a:solidFill>
                          <a:latin typeface="Neuromax"/>
                        </a:rPr>
                        <a:t>2D y 3D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80" lang="es-MX">
                          <a:solidFill>
                            <a:srgbClr val="4F5361"/>
                          </a:solidFill>
                          <a:latin typeface="Neuromax"/>
                        </a:rPr>
                        <a:t>MIT: gratis siempre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80" lang="es-MX">
                          <a:solidFill>
                            <a:srgbClr val="4F5361"/>
                          </a:solidFill>
                          <a:latin typeface="Neuromax"/>
                        </a:rPr>
                        <a:t>Aprender, 2D, indie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lang="es-MX">
                          <a:solidFill>
                            <a:srgbClr val="131315"/>
                          </a:solidFill>
                          <a:latin typeface="Neuromax SemBd"/>
                        </a:rPr>
                        <a:t>Unreal</a:t>
                      </a:r>
                    </a:p>
                  </a:txBody>
                  <a:tcPr marL="73152" marR="54864" marT="27432" marB="27432" anchor="ctr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80" lang="es-MX">
                          <a:solidFill>
                            <a:srgbClr val="4F5361"/>
                          </a:solidFill>
                          <a:latin typeface="Neuromax"/>
                        </a:rPr>
                        <a:t>C++ y Blueprints</a:t>
                      </a:r>
                    </a:p>
                  </a:txBody>
                  <a:tcPr marL="73152" marR="54864" marT="27432" marB="27432" anchor="ctr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80" lang="es-MX">
                          <a:solidFill>
                            <a:srgbClr val="4F5361"/>
                          </a:solidFill>
                          <a:latin typeface="Neuromax"/>
                        </a:rPr>
                        <a:t>3D</a:t>
                      </a:r>
                    </a:p>
                  </a:txBody>
                  <a:tcPr marL="73152" marR="54864" marT="27432" marB="27432" anchor="ctr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80" lang="es-MX">
                          <a:solidFill>
                            <a:srgbClr val="4F5361"/>
                          </a:solidFill>
                          <a:latin typeface="Neuromax"/>
                        </a:rPr>
                        <a:t>Gratis hasta 1 millón USD; 5% después</a:t>
                      </a:r>
                    </a:p>
                  </a:txBody>
                  <a:tcPr marL="73152" marR="54864" marT="27432" marB="27432" anchor="ctr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80" lang="es-MX">
                          <a:solidFill>
                            <a:srgbClr val="4F5361"/>
                          </a:solidFill>
                          <a:latin typeface="Neuromax"/>
                        </a:rPr>
                        <a:t>AAA, cine, mundos grandes</a:t>
                      </a:r>
                    </a:p>
                  </a:txBody>
                  <a:tcPr marL="73152" marR="54864" marT="27432" marB="27432" anchor="ctr">
                    <a:solidFill>
                      <a:srgbClr val="F7F3EA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lang="es-MX">
                          <a:solidFill>
                            <a:srgbClr val="131315"/>
                          </a:solidFill>
                          <a:latin typeface="Neuromax SemBd"/>
                        </a:rPr>
                        <a:t>Phaser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80" lang="es-MX">
                          <a:solidFill>
                            <a:srgbClr val="4F5361"/>
                          </a:solidFill>
                          <a:latin typeface="Neuromax"/>
                        </a:rPr>
                        <a:t>JavaScript / TypeScript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80" lang="es-MX">
                          <a:solidFill>
                            <a:srgbClr val="4F5361"/>
                          </a:solidFill>
                          <a:latin typeface="Neuromax"/>
                        </a:rPr>
                        <a:t>2D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80" lang="es-MX">
                          <a:solidFill>
                            <a:srgbClr val="4F5361"/>
                          </a:solidFill>
                          <a:latin typeface="Neuromax"/>
                        </a:rPr>
                        <a:t>MIT: gratis siempre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80" lang="es-MX">
                          <a:solidFill>
                            <a:srgbClr val="4F5361"/>
                          </a:solidFill>
                          <a:latin typeface="Neuromax"/>
                        </a:rPr>
                        <a:t>Web, jams, prototipos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lang="es-MX">
                          <a:solidFill>
                            <a:srgbClr val="131315"/>
                          </a:solidFill>
                          <a:latin typeface="Neuromax SemBd"/>
                        </a:rPr>
                        <a:t>GameMaker</a:t>
                      </a:r>
                    </a:p>
                  </a:txBody>
                  <a:tcPr marL="73152" marR="54864" marT="27432" marB="27432" anchor="ctr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80" lang="es-MX">
                          <a:solidFill>
                            <a:srgbClr val="4F5361"/>
                          </a:solidFill>
                          <a:latin typeface="Neuromax"/>
                        </a:rPr>
                        <a:t>GML</a:t>
                      </a:r>
                    </a:p>
                  </a:txBody>
                  <a:tcPr marL="73152" marR="54864" marT="27432" marB="27432" anchor="ctr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80" lang="es-MX">
                          <a:solidFill>
                            <a:srgbClr val="4F5361"/>
                          </a:solidFill>
                          <a:latin typeface="Neuromax"/>
                        </a:rPr>
                        <a:t>2D</a:t>
                      </a:r>
                    </a:p>
                  </a:txBody>
                  <a:tcPr marL="73152" marR="54864" marT="27432" marB="27432" anchor="ctr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80" lang="es-MX">
                          <a:solidFill>
                            <a:srgbClr val="4F5361"/>
                          </a:solidFill>
                          <a:latin typeface="Neuromax"/>
                        </a:rPr>
                        <a:t>Gratis no comercial; pago para publicar</a:t>
                      </a:r>
                    </a:p>
                  </a:txBody>
                  <a:tcPr marL="73152" marR="54864" marT="27432" marB="27432" anchor="ctr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80" lang="es-MX">
                          <a:solidFill>
                            <a:srgbClr val="4F5361"/>
                          </a:solidFill>
                          <a:latin typeface="Neuromax"/>
                        </a:rPr>
                        <a:t>2D rápido</a:t>
                      </a:r>
                    </a:p>
                  </a:txBody>
                  <a:tcPr marL="73152" marR="54864" marT="27432" marB="27432" anchor="ctr"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13892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 lang="es-MX">
                <a:solidFill>
                  <a:srgbClr val="4F5361"/>
                </a:solidFill>
                <a:latin typeface="Neuromax"/>
              </a:rPr>
              <a:t>Datos de 2026. Las licencias cambian: revisa siempre la página oficial antes de empezar.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loud-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64592"/>
            <a:ext cx="731520" cy="3084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251460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110">
                <a:solidFill>
                  <a:srgbClr val="963700"/>
                </a:solidFill>
                <a:latin typeface="Neuromax SemBd"/>
              </a:rPr>
              <a:t>8.2.5 · SELECCIÓN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92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lang="es-MX">
                <a:solidFill>
                  <a:srgbClr val="131315"/>
                </a:solidFill>
                <a:latin typeface="Neuromax SemBd"/>
              </a:rPr>
              <a:t>CÓMO ELEGIR: CINCO PREGUNTAS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7899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4F5361"/>
                </a:solidFill>
                <a:latin typeface="Neuromax"/>
              </a:rPr>
              <a:t>Responde en este orden y descarta opciones.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11055096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27632"/>
            <a:ext cx="68580" cy="603504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6479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s-MX">
                <a:solidFill>
                  <a:srgbClr val="963700"/>
                </a:solidFill>
                <a:latin typeface="Neuromax SemB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755648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lang="es-MX">
                <a:solidFill>
                  <a:srgbClr val="131315"/>
                </a:solidFill>
                <a:latin typeface="Neuromax SemBd"/>
              </a:rPr>
              <a:t>¿2D O 3D?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746504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es-MX">
                <a:solidFill>
                  <a:srgbClr val="4F5361"/>
                </a:solidFill>
                <a:latin typeface="Neuromax"/>
              </a:rPr>
              <a:t>Para 2D, Godot y Phaser suelen ser más directos. Para 3D realista, Unreal.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322576"/>
            <a:ext cx="11055096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322576"/>
            <a:ext cx="68580" cy="603504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45973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s-MX">
                <a:solidFill>
                  <a:srgbClr val="963700"/>
                </a:solidFill>
                <a:latin typeface="Neuromax SemB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450592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lang="es-MX">
                <a:solidFill>
                  <a:srgbClr val="131315"/>
                </a:solidFill>
                <a:latin typeface="Neuromax SemBd"/>
              </a:rPr>
              <a:t>¿QUÉ LENGUAJE?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44144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es-MX">
                <a:solidFill>
                  <a:srgbClr val="4F5361"/>
                </a:solidFill>
                <a:latin typeface="Neuromax"/>
              </a:rPr>
              <a:t>C#, GDScript, C++ o JavaScript. Elige uno que puedas mantener.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017520"/>
            <a:ext cx="11055096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017520"/>
            <a:ext cx="68580" cy="603504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15467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s-MX">
                <a:solidFill>
                  <a:srgbClr val="963700"/>
                </a:solidFill>
                <a:latin typeface="Neuromax SemB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145536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lang="es-MX">
                <a:solidFill>
                  <a:srgbClr val="131315"/>
                </a:solidFill>
                <a:latin typeface="Neuromax SemBd"/>
              </a:rPr>
              <a:t>¿A QUÉ PLATAFORMA?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136391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es-MX">
                <a:solidFill>
                  <a:srgbClr val="4F5361"/>
                </a:solidFill>
                <a:latin typeface="Neuromax"/>
              </a:rPr>
              <a:t>PC, móvil, consola, web o VR. No todos llegan a todo.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712464"/>
            <a:ext cx="11055096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3712464"/>
            <a:ext cx="68580" cy="603504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84962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s-MX">
                <a:solidFill>
                  <a:srgbClr val="963700"/>
                </a:solidFill>
                <a:latin typeface="Neuromax SemB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384048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lang="es-MX">
                <a:solidFill>
                  <a:srgbClr val="131315"/>
                </a:solidFill>
                <a:latin typeface="Neuromax SemBd"/>
              </a:rPr>
              <a:t>¿CUÁNTO CUESTA?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831336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es-MX">
                <a:solidFill>
                  <a:srgbClr val="4F5361"/>
                </a:solidFill>
                <a:latin typeface="Neuromax"/>
              </a:rPr>
              <a:t>Licencia, hardware, recursos y tiempo de aprendizaje.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407408"/>
            <a:ext cx="11055096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4407408"/>
            <a:ext cx="68580" cy="603504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54456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s-MX">
                <a:solidFill>
                  <a:srgbClr val="963700"/>
                </a:solidFill>
                <a:latin typeface="Neuromax SemBd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4535424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lang="es-MX">
                <a:solidFill>
                  <a:srgbClr val="131315"/>
                </a:solidFill>
                <a:latin typeface="Neuromax SemBd"/>
              </a:rPr>
              <a:t>¿TIEMPO Y EQUIPO?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526280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es-MX">
                <a:solidFill>
                  <a:srgbClr val="4F5361"/>
                </a:solidFill>
                <a:latin typeface="Neuromax"/>
              </a:rPr>
              <a:t>La curva de aprendizaje pesa más que la lista de funciones.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5138928"/>
            <a:ext cx="11055096" cy="457200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138928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es-MX">
                <a:solidFill>
                  <a:srgbClr val="FFFFFF"/>
                </a:solidFill>
                <a:latin typeface="Neuromax SemBd"/>
              </a:rPr>
              <a:t>Elige por el proyecto, no por el video de gráficos más impresionante.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51460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110">
                <a:solidFill>
                  <a:srgbClr val="963700"/>
                </a:solidFill>
                <a:latin typeface="Neuromax SemBd"/>
              </a:rPr>
              <a:t>8.2.5 · LICENCIAS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lang="es-MX">
                <a:solidFill>
                  <a:srgbClr val="131315"/>
                </a:solidFill>
                <a:latin typeface="Neuromax SemBd"/>
              </a:rPr>
              <a:t>LICENCIAS Y COSTO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4F5361"/>
                </a:solidFill>
                <a:latin typeface="Neuromax"/>
              </a:rPr>
              <a:t>Lo que dice la letra pequeña, en números de 2026.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2651760" cy="3154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2651760" cy="82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90195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s-MX">
                <a:solidFill>
                  <a:srgbClr val="131315"/>
                </a:solidFill>
                <a:latin typeface="Neuromax SemBd"/>
              </a:rPr>
              <a:t>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3172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 lang="es-MX">
                <a:solidFill>
                  <a:srgbClr val="963700"/>
                </a:solidFill>
                <a:latin typeface="Neuromax SemBd"/>
              </a:rPr>
              <a:t>$0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127248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 lang="es-MX">
                <a:solidFill>
                  <a:srgbClr val="4F5361"/>
                </a:solidFill>
                <a:latin typeface="Neuromax"/>
              </a:rPr>
              <a:t>Personal hasta 200 mil USD de ingresos o fondos.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 lang="es-MX">
                <a:solidFill>
                  <a:srgbClr val="4F5361"/>
                </a:solidFill>
                <a:latin typeface="Neuromax"/>
              </a:rPr>
              <a:t>Pro: 2,310 USD al año por asiento.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4041648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 lang="es-MX">
                <a:solidFill>
                  <a:srgbClr val="963700"/>
                </a:solidFill>
                <a:latin typeface="Neuromax"/>
              </a:rPr>
              <a:t>CUÁNDO PAGAS: al pasar el umbral o al publicar en consolas.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4992" y="1664208"/>
            <a:ext cx="2651760" cy="3154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4992" y="1664208"/>
            <a:ext cx="2651760" cy="82296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90195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s-MX">
                <a:solidFill>
                  <a:srgbClr val="131315"/>
                </a:solidFill>
                <a:latin typeface="Neuromax SemBd"/>
              </a:rPr>
              <a:t>UNREAL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3172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 lang="es-MX">
                <a:solidFill>
                  <a:srgbClr val="963700"/>
                </a:solidFill>
                <a:latin typeface="Neuromax SemBd"/>
              </a:rPr>
              <a:t>$0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127248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 lang="es-MX">
                <a:solidFill>
                  <a:srgbClr val="4F5361"/>
                </a:solidFill>
                <a:latin typeface="Neuromax"/>
              </a:rPr>
              <a:t>Gratis hasta 1 millón USD por producto.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 lang="es-MX">
                <a:solidFill>
                  <a:srgbClr val="4F5361"/>
                </a:solidFill>
                <a:latin typeface="Neuromax"/>
              </a:rPr>
              <a:t>Después, 5% de regalías.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041648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 lang="es-MX">
                <a:solidFill>
                  <a:srgbClr val="963700"/>
                </a:solidFill>
                <a:latin typeface="Neuromax"/>
              </a:rPr>
              <a:t>CUÁNDO PAGAS: al superar 1 millón USD por producto.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3056" y="1664208"/>
            <a:ext cx="2651760" cy="3154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63056" y="1664208"/>
            <a:ext cx="2651760" cy="82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s-MX">
                <a:solidFill>
                  <a:srgbClr val="131315"/>
                </a:solidFill>
                <a:latin typeface="Neuromax SemBd"/>
              </a:rPr>
              <a:t>GODOT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33172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 lang="es-MX">
                <a:solidFill>
                  <a:srgbClr val="963700"/>
                </a:solidFill>
                <a:latin typeface="Neuromax SemBd"/>
              </a:rPr>
              <a:t>$0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3127248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 lang="es-MX">
                <a:solidFill>
                  <a:srgbClr val="4F5361"/>
                </a:solidFill>
                <a:latin typeface="Neuromax"/>
              </a:rPr>
              <a:t>MIT: sin regalías ni cuotas, incluso si vendes.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4041648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 lang="es-MX">
                <a:solidFill>
                  <a:srgbClr val="963700"/>
                </a:solidFill>
                <a:latin typeface="Neuromax"/>
              </a:rPr>
              <a:t>CUÁNDO PAGAS: nunca por el motor.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19" y="1664208"/>
            <a:ext cx="2651760" cy="3154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61119" y="1664208"/>
            <a:ext cx="2651760" cy="82296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190195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s-MX">
                <a:solidFill>
                  <a:srgbClr val="131315"/>
                </a:solidFill>
                <a:latin typeface="Neuromax SemBd"/>
              </a:rPr>
              <a:t>PHASER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2288" y="233172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 lang="es-MX">
                <a:solidFill>
                  <a:srgbClr val="963700"/>
                </a:solidFill>
                <a:latin typeface="Neuromax SemBd"/>
              </a:rP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2288" y="3127248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 lang="es-MX">
                <a:solidFill>
                  <a:srgbClr val="4F5361"/>
                </a:solidFill>
                <a:latin typeface="Neuromax"/>
              </a:rPr>
              <a:t>MIT: gratis para uso comercial.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8" y="4041648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 lang="es-MX">
                <a:solidFill>
                  <a:srgbClr val="963700"/>
                </a:solidFill>
                <a:latin typeface="Neuromax"/>
              </a:rPr>
              <a:t>CUÁNDO PAGAS: nunca por la biblioteca.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5074920"/>
            <a:ext cx="11055096" cy="512064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074920"/>
            <a:ext cx="10241280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s-MX">
                <a:solidFill>
                  <a:srgbClr val="FFFFFF"/>
                </a:solidFill>
                <a:latin typeface="Neuromax SemBd"/>
              </a:rPr>
              <a:t>La licencia se revisa al inicio, no al final.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502920"/>
            <a:ext cx="1097280" cy="478144"/>
          </a:xfrm>
          <a:prstGeom prst="rect">
            <a:avLst/>
          </a:prstGeom>
        </p:spPr>
      </p:pic>
      <p:pic>
        <p:nvPicPr>
          <p:cNvPr id="4" name="Picture 3" descr="tree-sm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4160520"/>
            <a:ext cx="1138270" cy="1737360"/>
          </a:xfrm>
          <a:prstGeom prst="rect">
            <a:avLst/>
          </a:prstGeom>
        </p:spPr>
      </p:pic>
      <p:pic>
        <p:nvPicPr>
          <p:cNvPr id="5" name="Picture 4" descr="ch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5074920"/>
            <a:ext cx="1325880" cy="703047"/>
          </a:xfrm>
          <a:prstGeom prst="rect">
            <a:avLst/>
          </a:prstGeom>
        </p:spPr>
      </p:pic>
      <p:pic>
        <p:nvPicPr>
          <p:cNvPr id="6" name="Picture 5" descr="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4023360"/>
            <a:ext cx="640080" cy="609391"/>
          </a:xfrm>
          <a:prstGeom prst="rect">
            <a:avLst/>
          </a:prstGeom>
        </p:spPr>
      </p:pic>
      <p:pic>
        <p:nvPicPr>
          <p:cNvPr id="7" name="Picture 6" descr="mushroo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5257800"/>
            <a:ext cx="594360" cy="35796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301752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65176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110">
                <a:solidFill>
                  <a:srgbClr val="963700"/>
                </a:solidFill>
                <a:latin typeface="Neuromax SemBd"/>
              </a:rPr>
              <a:t>BLOQUE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024128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sz="7400" b="0" i="0" lang="es-MX">
                <a:solidFill>
                  <a:srgbClr val="F08A3C"/>
                </a:solidFill>
                <a:latin typeface="Neuromax SemBd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658368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 lang="es-MX">
                <a:solidFill>
                  <a:srgbClr val="131315"/>
                </a:solidFill>
                <a:latin typeface="Neuromax SemBd"/>
              </a:rPr>
              <a:t>UNITY EN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 lang="es-MX">
                <a:solidFill>
                  <a:srgbClr val="131315"/>
                </a:solidFill>
                <a:latin typeface="Neuromax SemBd"/>
              </a:rPr>
              <a:t>EL CURSO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767328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lang="es-MX">
                <a:solidFill>
                  <a:srgbClr val="4F5361"/>
                </a:solidFill>
                <a:latin typeface="Neuromax"/>
              </a:rPr>
              <a:t>La herramienta con la que vamos a construir.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498848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80">
                <a:solidFill>
                  <a:srgbClr val="963700"/>
                </a:solidFill>
                <a:latin typeface="Neuromax SemBd"/>
              </a:rPr>
              <a:t>C# · VR · SIMULACIÓN · JUEGOS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51460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110">
                <a:solidFill>
                  <a:srgbClr val="963700"/>
                </a:solidFill>
                <a:latin typeface="Neuromax SemBd"/>
              </a:rPr>
              <a:t>8.2.6 · 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lang="es-MX">
                <a:solidFill>
                  <a:srgbClr val="131315"/>
                </a:solidFill>
                <a:latin typeface="Neuromax SemBd"/>
              </a:rPr>
              <a:t>¿POR QUÉ UNITY EN ESTE CURSO?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4F5361"/>
                </a:solidFill>
                <a:latin typeface="Neuromax"/>
              </a:rPr>
              <a:t>Cinco razones prácticas, no religiosas.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11055096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00200"/>
            <a:ext cx="68580" cy="603504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4650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es-MX">
                <a:solidFill>
                  <a:srgbClr val="963700"/>
                </a:solidFill>
                <a:latin typeface="Neuromax SemB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7373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es-MX">
                <a:solidFill>
                  <a:srgbClr val="131315"/>
                </a:solidFill>
                <a:latin typeface="Neuromax SemBd"/>
              </a:rPr>
              <a:t>C# SE PARECE A 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728216"/>
            <a:ext cx="612648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lang="es-MX">
                <a:solidFill>
                  <a:srgbClr val="4F5361"/>
                </a:solidFill>
                <a:latin typeface="Neuromax"/>
              </a:rPr>
              <a:t>Ya viste o verás ideas parecidas; se transfiere a otras materias.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04288"/>
            <a:ext cx="11055096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304288"/>
            <a:ext cx="68580" cy="603504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45059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es-MX">
                <a:solidFill>
                  <a:srgbClr val="963700"/>
                </a:solidFill>
                <a:latin typeface="Neuromax SemB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44144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es-MX">
                <a:solidFill>
                  <a:srgbClr val="131315"/>
                </a:solidFill>
                <a:latin typeface="Neuromax SemBd"/>
              </a:rPr>
              <a:t>NO SOLO HACE JUEGOS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432304"/>
            <a:ext cx="612648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lang="es-MX">
                <a:solidFill>
                  <a:srgbClr val="4F5361"/>
                </a:solidFill>
                <a:latin typeface="Neuromax"/>
              </a:rPr>
              <a:t>Robótica, VR, control y simulación usan las mismas ideas.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008376"/>
            <a:ext cx="11055096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008376"/>
            <a:ext cx="68580" cy="603504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1546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es-MX">
                <a:solidFill>
                  <a:srgbClr val="963700"/>
                </a:solidFill>
                <a:latin typeface="Neuromax SemB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314553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es-MX">
                <a:solidFill>
                  <a:srgbClr val="131315"/>
                </a:solidFill>
                <a:latin typeface="Neuromax SemBd"/>
              </a:rPr>
              <a:t>MÁS LIGERO QUE UNREAL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136392"/>
            <a:ext cx="612648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lang="es-MX">
                <a:solidFill>
                  <a:srgbClr val="4F5361"/>
                </a:solidFill>
                <a:latin typeface="Neuromax"/>
              </a:rPr>
              <a:t>Corre en las computadoras del laboratorio.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712464"/>
            <a:ext cx="11055096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712464"/>
            <a:ext cx="68580" cy="603504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85876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es-MX">
                <a:solidFill>
                  <a:srgbClr val="963700"/>
                </a:solidFill>
                <a:latin typeface="Neuromax SemB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384962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es-MX">
                <a:solidFill>
                  <a:srgbClr val="131315"/>
                </a:solidFill>
                <a:latin typeface="Neuromax SemBd"/>
              </a:rPr>
              <a:t>CÓDIGO, NO SOLO BLUEPRINTS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3840480"/>
            <a:ext cx="612648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lang="es-MX">
                <a:solidFill>
                  <a:srgbClr val="4F5361"/>
                </a:solidFill>
                <a:latin typeface="Neuromax"/>
              </a:rPr>
              <a:t>Aprendes a programar de verdad, no solo a conectar nodos.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416552"/>
            <a:ext cx="11055096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4416552"/>
            <a:ext cx="68580" cy="603504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6285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es-MX">
                <a:solidFill>
                  <a:srgbClr val="963700"/>
                </a:solidFill>
                <a:latin typeface="Neuromax SemBd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455371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es-MX">
                <a:solidFill>
                  <a:srgbClr val="131315"/>
                </a:solidFill>
                <a:latin typeface="Neuromax SemBd"/>
              </a:rPr>
              <a:t>COMUNIDAD Y EMPLEO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4544568"/>
            <a:ext cx="612648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lang="es-MX">
                <a:solidFill>
                  <a:srgbClr val="4F5361"/>
                </a:solidFill>
                <a:latin typeface="Neuromax"/>
              </a:rPr>
              <a:t>Hay documentación, ejemplos y trabajo en la industria.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5102352"/>
            <a:ext cx="11055096" cy="411480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102352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lang="es-MX">
                <a:solidFill>
                  <a:srgbClr val="FFFFFF"/>
                </a:solidFill>
                <a:latin typeface="Neuromax SemBd"/>
              </a:rPr>
              <a:t>No es el motor perfecto. Es el mejor equilibrio para 16 semanas y poca experiencia previa.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51460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110">
                <a:solidFill>
                  <a:srgbClr val="963700"/>
                </a:solidFill>
                <a:latin typeface="Neuromax SemBd"/>
              </a:rPr>
              <a:t>8.2.6 ·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lang="es-MX">
                <a:solidFill>
                  <a:srgbClr val="131315"/>
                </a:solidFill>
                <a:latin typeface="Neuromax SemBd"/>
              </a:rPr>
              <a:t>UN SCRIPT EN 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4F5361"/>
                </a:solidFill>
                <a:latin typeface="Neuromax"/>
              </a:rPr>
              <a:t>Mover un objeto con el teclado, en C#.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27632"/>
            <a:ext cx="5989320" cy="3877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ódigo C# de un script para mover un objeto en Unit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709928"/>
            <a:ext cx="5824728" cy="3703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742432" y="1572768"/>
            <a:ext cx="658368" cy="2468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42432" y="1572768"/>
            <a:ext cx="658368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>
                <a:solidFill>
                  <a:srgbClr val="963700"/>
                </a:solidFill>
                <a:latin typeface="Neuromax SemBd"/>
              </a:rPr>
              <a:t>C#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664208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s-MX">
                <a:solidFill>
                  <a:srgbClr val="963700"/>
                </a:solidFill>
                <a:latin typeface="Neuromax SemBd"/>
              </a:rPr>
              <a:t>MonoBehaviour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929384"/>
            <a:ext cx="475488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es-MX">
                <a:solidFill>
                  <a:srgbClr val="4F5361"/>
                </a:solidFill>
                <a:latin typeface="Neuromax"/>
              </a:rPr>
              <a:t>Todo script que se cuelga de un objeto (GameObject) hereda de aquí.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432304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s-MX">
                <a:solidFill>
                  <a:srgbClr val="963700"/>
                </a:solidFill>
                <a:latin typeface="Neuromax SemBd"/>
              </a:rPr>
              <a:t>Update()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697480"/>
            <a:ext cx="475488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es-MX">
                <a:solidFill>
                  <a:srgbClr val="4F5361"/>
                </a:solidFill>
                <a:latin typeface="Neuromax"/>
              </a:rPr>
              <a:t>Se ejecuta una vez por fotograma.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200400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s-MX">
                <a:solidFill>
                  <a:srgbClr val="963700"/>
                </a:solidFill>
                <a:latin typeface="Neuromax SemBd"/>
              </a:rPr>
              <a:t>Input.GetAxis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465576"/>
            <a:ext cx="475488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es-MX">
                <a:solidFill>
                  <a:srgbClr val="4F5361"/>
                </a:solidFill>
                <a:latin typeface="Neuromax"/>
              </a:rPr>
              <a:t>Devuelve -1, 0 o 1 según la tecla.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968496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s-MX">
                <a:solidFill>
                  <a:srgbClr val="963700"/>
                </a:solidFill>
                <a:latin typeface="Neuromax SemBd"/>
              </a:rPr>
              <a:t>Time.deltaTime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233672"/>
            <a:ext cx="475488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es-MX">
                <a:solidFill>
                  <a:srgbClr val="4F5361"/>
                </a:solidFill>
                <a:latin typeface="Neuromax"/>
              </a:rPr>
              <a:t>Hace que la velocidad no dependa de los cuadros por segundo.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736592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s-MX">
                <a:solidFill>
                  <a:srgbClr val="963700"/>
                </a:solidFill>
                <a:latin typeface="Neuromax SemBd"/>
              </a:rPr>
              <a:t>transform.Translate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5001768"/>
            <a:ext cx="475488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es-MX">
                <a:solidFill>
                  <a:srgbClr val="4F5361"/>
                </a:solidFill>
                <a:latin typeface="Neuromax"/>
              </a:rPr>
              <a:t>Mueve el objeto en el mundo.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1389888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 lang="es-MX">
                <a:solidFill>
                  <a:srgbClr val="4F5361"/>
                </a:solidFill>
                <a:latin typeface="Neuromax"/>
              </a:rPr>
              <a:t>mover_unity.cs · T8-2_content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loud-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64592"/>
            <a:ext cx="731520" cy="3084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251460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110">
                <a:solidFill>
                  <a:srgbClr val="963700"/>
                </a:solidFill>
                <a:latin typeface="Neuromax SemBd"/>
              </a:rPr>
              <a:t>8.2.7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92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lang="es-MX">
                <a:solidFill>
                  <a:srgbClr val="131315"/>
                </a:solidFill>
                <a:latin typeface="Neuromax SemBd"/>
              </a:rPr>
              <a:t>CÓMO SE HACEN JUEGOS EN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7899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4F5361"/>
                </a:solidFill>
                <a:latin typeface="Neuromax"/>
              </a:rPr>
              <a:t>La IA acelera los recursos. El criterio sigue siendo humano.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3246120" cy="1389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64208"/>
            <a:ext cx="68580" cy="138988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73936"/>
            <a:ext cx="2898647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es-MX">
                <a:solidFill>
                  <a:srgbClr val="131315"/>
                </a:solidFill>
                <a:latin typeface="Neuromax SemBd"/>
              </a:rPr>
              <a:t>TEXTO A IMAGEN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176272"/>
            <a:ext cx="2880360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es-MX">
                <a:solidFill>
                  <a:srgbClr val="4F5361"/>
                </a:solidFill>
                <a:latin typeface="Neuromax"/>
              </a:rPr>
              <a:t>Arte conceptual, texturas y fondos en minutos.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8496" y="1664208"/>
            <a:ext cx="3246120" cy="1389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68496" y="1664208"/>
            <a:ext cx="68580" cy="1389888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51376" y="1773936"/>
            <a:ext cx="2898647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es-MX">
                <a:solidFill>
                  <a:srgbClr val="131315"/>
                </a:solidFill>
                <a:latin typeface="Neuromax SemBd"/>
              </a:rPr>
              <a:t>TEXTO A 3D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176272"/>
            <a:ext cx="2880360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es-MX">
                <a:solidFill>
                  <a:srgbClr val="4F5361"/>
                </a:solidFill>
                <a:latin typeface="Neuromax"/>
              </a:rPr>
              <a:t>Meshy, Tripo y otras herramientas generan mallas base.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236976"/>
            <a:ext cx="3246120" cy="1389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236976"/>
            <a:ext cx="68580" cy="138988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346704"/>
            <a:ext cx="2898647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es-MX">
                <a:solidFill>
                  <a:srgbClr val="131315"/>
                </a:solidFill>
                <a:latin typeface="Neuromax SemBd"/>
              </a:rPr>
              <a:t>ASISTENTES EN EL EDITOR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3749039"/>
            <a:ext cx="2880360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es-MX">
                <a:solidFill>
                  <a:srgbClr val="4F5361"/>
                </a:solidFill>
                <a:latin typeface="Neuromax"/>
              </a:rPr>
              <a:t>Unity AI (beta) y un puente experimental en Unreal 5.8.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8496" y="3236976"/>
            <a:ext cx="3246120" cy="1389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68496" y="3236976"/>
            <a:ext cx="68580" cy="1389888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51376" y="3346704"/>
            <a:ext cx="2898647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es-MX">
                <a:solidFill>
                  <a:srgbClr val="131315"/>
                </a:solidFill>
                <a:latin typeface="Neuromax SemBd"/>
              </a:rPr>
              <a:t>CÓDIGO Y AUDIO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3749039"/>
            <a:ext cx="2880360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 lang="es-MX">
                <a:solidFill>
                  <a:srgbClr val="4F5361"/>
                </a:solidFill>
                <a:latin typeface="Neuromax"/>
              </a:rPr>
              <a:t>Borradores que hay que revisar y probar.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166420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es-MX" spc="60">
                <a:solidFill>
                  <a:srgbClr val="963700"/>
                </a:solidFill>
                <a:latin typeface="Neuromax SemBd"/>
              </a:rPr>
              <a:t>EL NUEVO FLUJO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2029968"/>
            <a:ext cx="3977639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9520" y="2029968"/>
            <a:ext cx="54864" cy="603504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2029968"/>
            <a:ext cx="123444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es-MX">
                <a:solidFill>
                  <a:srgbClr val="131315"/>
                </a:solidFill>
                <a:latin typeface="Neuromax SemBd"/>
              </a:rPr>
              <a:t>IDEA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2029968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s-MX">
                <a:solidFill>
                  <a:srgbClr val="4F5361"/>
                </a:solidFill>
                <a:latin typeface="Neuromax"/>
              </a:rPr>
              <a:t>qué quieres crear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9400032" y="2642616"/>
            <a:ext cx="164592" cy="155448"/>
          </a:xfrm>
          <a:prstGeom prst="down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89520" y="2807208"/>
            <a:ext cx="3977639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0" y="2807208"/>
            <a:ext cx="54864" cy="603504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2807208"/>
            <a:ext cx="123444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es-MX">
                <a:solidFill>
                  <a:srgbClr val="131315"/>
                </a:solidFill>
                <a:latin typeface="Neuromax SemBd"/>
              </a:rPr>
              <a:t>INDICACIÓN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2807208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s-MX">
                <a:solidFill>
                  <a:srgbClr val="4F5361"/>
                </a:solidFill>
                <a:latin typeface="Neuromax"/>
              </a:rPr>
              <a:t>describe el recurso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9400032" y="3419856"/>
            <a:ext cx="164592" cy="155448"/>
          </a:xfrm>
          <a:prstGeom prst="down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89520" y="3584448"/>
            <a:ext cx="3977639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589520" y="3584448"/>
            <a:ext cx="54864" cy="603504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18120" y="3584448"/>
            <a:ext cx="123444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es-MX">
                <a:solidFill>
                  <a:srgbClr val="131315"/>
                </a:solidFill>
                <a:latin typeface="Neuromax SemBd"/>
              </a:rPr>
              <a:t>RECURSO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3584448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s-MX">
                <a:solidFill>
                  <a:srgbClr val="4F5361"/>
                </a:solidFill>
                <a:latin typeface="Neuromax"/>
              </a:rPr>
              <a:t>revísalo y ajústalo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9400032" y="4197096"/>
            <a:ext cx="164592" cy="155448"/>
          </a:xfrm>
          <a:prstGeom prst="down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589520" y="4361688"/>
            <a:ext cx="3977639" cy="603504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4361688"/>
            <a:ext cx="123444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es-MX">
                <a:solidFill>
                  <a:srgbClr val="FFFFFF"/>
                </a:solidFill>
                <a:latin typeface="Neuromax SemBd"/>
              </a:rPr>
              <a:t>JUEGO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4361688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s-MX">
                <a:solidFill>
                  <a:srgbClr val="FFFFFF"/>
                </a:solidFill>
                <a:latin typeface="Neuromax"/>
              </a:rPr>
              <a:t>pruébalo en contexto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5074920"/>
            <a:ext cx="11055096" cy="512064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" y="5074920"/>
            <a:ext cx="10241280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es-MX">
                <a:solidFill>
                  <a:srgbClr val="FFFFFF"/>
                </a:solidFill>
                <a:latin typeface="Neuromax SemBd"/>
              </a:rPr>
              <a:t>La IA no garantiza estilo coherente, derechos limpios ni diversión.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loud-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64592"/>
            <a:ext cx="731520" cy="3084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251460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110">
                <a:solidFill>
                  <a:srgbClr val="963700"/>
                </a:solidFill>
                <a:latin typeface="Neuromax SemBd"/>
              </a:rPr>
              <a:t>8.2 · ACTIVIDAD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92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lang="es-MX">
                <a:solidFill>
                  <a:srgbClr val="131315"/>
                </a:solidFill>
                <a:latin typeface="Neuromax SemBd"/>
              </a:rPr>
              <a:t>ACTIVIDAD · 10 MINUTOS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7899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4F5361"/>
                </a:solidFill>
                <a:latin typeface="Neuromax"/>
              </a:rPr>
              <a:t>Elige un motor para cada caso y justifica en una frase.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35204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64208"/>
            <a:ext cx="3520440" cy="9144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4708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es-MX" spc="60">
                <a:solidFill>
                  <a:srgbClr val="963700"/>
                </a:solidFill>
                <a:latin typeface="Neuromax SemBd"/>
              </a:rPr>
              <a:t>CASO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4028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es-MX">
                <a:solidFill>
                  <a:srgbClr val="131315"/>
                </a:solidFill>
                <a:latin typeface="Neuromax"/>
              </a:rPr>
              <a:t>Juego 2D de plataformas para navegador.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es-MX">
                <a:solidFill>
                  <a:srgbClr val="131315"/>
                </a:solidFill>
                <a:latin typeface="Neuromax"/>
              </a:rPr>
              <a:t>Dos personas, un 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246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80">
                <a:solidFill>
                  <a:srgbClr val="4F5361"/>
                </a:solidFill>
                <a:latin typeface="Neuromax SemBd"/>
              </a:rPr>
              <a:t>PISTA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50215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es-MX">
                <a:solidFill>
                  <a:srgbClr val="963700"/>
                </a:solidFill>
                <a:latin typeface="Neuromax SemBd"/>
              </a:rPr>
              <a:t>Phaser o Godot.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664208"/>
            <a:ext cx="35204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664208"/>
            <a:ext cx="3520440" cy="91440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84708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es-MX" spc="60">
                <a:solidFill>
                  <a:srgbClr val="963700"/>
                </a:solidFill>
                <a:latin typeface="Neuromax SemBd"/>
              </a:rPr>
              <a:t>CASO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24028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es-MX">
                <a:solidFill>
                  <a:srgbClr val="131315"/>
                </a:solidFill>
                <a:latin typeface="Neuromax"/>
              </a:rPr>
              <a:t>Juego 3D realista para PC y consola.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es-MX">
                <a:solidFill>
                  <a:srgbClr val="131315"/>
                </a:solidFill>
                <a:latin typeface="Neuromax"/>
              </a:rPr>
              <a:t>Equipo de 30 personas.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246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80">
                <a:solidFill>
                  <a:srgbClr val="4F5361"/>
                </a:solidFill>
                <a:latin typeface="Neuromax SemBd"/>
              </a:rPr>
              <a:t>PISTA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350215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es-MX">
                <a:solidFill>
                  <a:srgbClr val="963700"/>
                </a:solidFill>
                <a:latin typeface="Neuromax SemBd"/>
              </a:rPr>
              <a:t>Unreal.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28431" y="1664208"/>
            <a:ext cx="35204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1664208"/>
            <a:ext cx="3520440" cy="91440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84708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es-MX" spc="60">
                <a:solidFill>
                  <a:srgbClr val="963700"/>
                </a:solidFill>
                <a:latin typeface="Neuromax SemBd"/>
              </a:rPr>
              <a:t>CASO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24028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es-MX">
                <a:solidFill>
                  <a:srgbClr val="131315"/>
                </a:solidFill>
                <a:latin typeface="Neuromax"/>
              </a:rPr>
              <a:t>Simulación de robótica en VR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es-MX">
                <a:solidFill>
                  <a:srgbClr val="131315"/>
                </a:solidFill>
                <a:latin typeface="Neuromax"/>
              </a:rPr>
              <a:t>para una clase.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246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80">
                <a:solidFill>
                  <a:srgbClr val="4F5361"/>
                </a:solidFill>
                <a:latin typeface="Neuromax SemBd"/>
              </a:rPr>
              <a:t>PISTA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50215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es-MX">
                <a:solidFill>
                  <a:srgbClr val="963700"/>
                </a:solidFill>
                <a:latin typeface="Neuromax SemBd"/>
              </a:rPr>
              <a:t>Unity.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3434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70">
                <a:solidFill>
                  <a:srgbClr val="963700"/>
                </a:solidFill>
                <a:latin typeface="Neuromax SemBd"/>
              </a:rPr>
              <a:t>RECUERDA LOS CRITERIOS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645152"/>
            <a:ext cx="1298448" cy="274320"/>
          </a:xfrm>
          <a:prstGeom prst="rect">
            <a:avLst/>
          </a:prstGeom>
          <a:solidFill>
            <a:srgbClr val="F7F3EA"/>
          </a:solidFill>
          <a:ln w="9525">
            <a:solidFill>
              <a:srgbClr val="D8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4645152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>
                <a:solidFill>
                  <a:srgbClr val="4F5361"/>
                </a:solidFill>
                <a:latin typeface="Neuromax"/>
              </a:rPr>
              <a:t>2D / 3D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4645152"/>
            <a:ext cx="1298448" cy="274320"/>
          </a:xfrm>
          <a:prstGeom prst="rect">
            <a:avLst/>
          </a:prstGeom>
          <a:solidFill>
            <a:srgbClr val="F7F3EA"/>
          </a:solidFill>
          <a:ln w="9525">
            <a:solidFill>
              <a:srgbClr val="D8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84248" y="4645152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>
                <a:solidFill>
                  <a:srgbClr val="4F5361"/>
                </a:solidFill>
                <a:latin typeface="Neuromax"/>
              </a:rPr>
              <a:t>Lenguaje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01568" y="4645152"/>
            <a:ext cx="1298448" cy="274320"/>
          </a:xfrm>
          <a:prstGeom prst="rect">
            <a:avLst/>
          </a:prstGeom>
          <a:solidFill>
            <a:srgbClr val="F7F3EA"/>
          </a:solidFill>
          <a:ln w="9525">
            <a:solidFill>
              <a:srgbClr val="D8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01568" y="4645152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>
                <a:solidFill>
                  <a:srgbClr val="4F5361"/>
                </a:solidFill>
                <a:latin typeface="Neuromax"/>
              </a:rPr>
              <a:t>Plataforma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18888" y="4645152"/>
            <a:ext cx="1298448" cy="274320"/>
          </a:xfrm>
          <a:prstGeom prst="rect">
            <a:avLst/>
          </a:prstGeom>
          <a:solidFill>
            <a:srgbClr val="F7F3EA"/>
          </a:solidFill>
          <a:ln w="9525">
            <a:solidFill>
              <a:srgbClr val="D8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18888" y="4645152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>
                <a:solidFill>
                  <a:srgbClr val="4F5361"/>
                </a:solidFill>
                <a:latin typeface="Neuromax"/>
              </a:rPr>
              <a:t>Licencia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4645152"/>
            <a:ext cx="1298448" cy="274320"/>
          </a:xfrm>
          <a:prstGeom prst="rect">
            <a:avLst/>
          </a:prstGeom>
          <a:solidFill>
            <a:srgbClr val="F7F3EA"/>
          </a:solidFill>
          <a:ln w="9525">
            <a:solidFill>
              <a:srgbClr val="D8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36208" y="4645152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>
                <a:solidFill>
                  <a:srgbClr val="4F5361"/>
                </a:solidFill>
                <a:latin typeface="Neuromax"/>
              </a:rPr>
              <a:t>Tiempo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5074920"/>
            <a:ext cx="11055096" cy="512064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5074920"/>
            <a:ext cx="10241280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s-MX">
                <a:solidFill>
                  <a:srgbClr val="FFFFFF"/>
                </a:solidFill>
                <a:latin typeface="Neuromax SemBd"/>
              </a:rPr>
              <a:t>No hay una respuesta única. Lo importante es el porqué.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loud-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64592"/>
            <a:ext cx="731520" cy="3084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251460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110">
                <a:solidFill>
                  <a:srgbClr val="963700"/>
                </a:solidFill>
                <a:latin typeface="Neuromax SemBd"/>
              </a:rPr>
              <a:t>RESUMEN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92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lang="es-MX">
                <a:solidFill>
                  <a:srgbClr val="131315"/>
                </a:solidFill>
                <a:latin typeface="Neuromax SemBd"/>
              </a:rPr>
              <a:t>IDEAS PARA LLEVARTE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7899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4F5361"/>
                </a:solidFill>
                <a:latin typeface="Neuromax"/>
              </a:rPr>
              <a:t>Cuatro ideas y una decisión.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5468112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1051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es-MX">
                <a:solidFill>
                  <a:srgbClr val="963700"/>
                </a:solidFill>
                <a:latin typeface="Neuromax SemB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7830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s-MX">
                <a:solidFill>
                  <a:srgbClr val="131315"/>
                </a:solidFill>
                <a:latin typeface="Neuromax SemBd"/>
              </a:rPr>
              <a:t>EL MOTOR NO HACE EL JUEGO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21408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 lang="es-MX">
                <a:solidFill>
                  <a:srgbClr val="4F5361"/>
                </a:solidFill>
                <a:latin typeface="Neuromax"/>
              </a:rPr>
              <a:t>Te ahorra trabajo repetitivo; el diseño sigue siendo tuyo.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08192" y="1664208"/>
            <a:ext cx="5468112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81051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es-MX">
                <a:solidFill>
                  <a:srgbClr val="963700"/>
                </a:solidFill>
                <a:latin typeface="Neuromax SemB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1423" y="17830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s-MX">
                <a:solidFill>
                  <a:srgbClr val="131315"/>
                </a:solidFill>
                <a:latin typeface="Neuromax SemBd"/>
              </a:rPr>
              <a:t>CADA MOTOR TIENE UN LUGAR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1423" y="2121408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 lang="es-MX">
                <a:solidFill>
                  <a:srgbClr val="4F5361"/>
                </a:solidFill>
                <a:latin typeface="Neuromax"/>
              </a:rPr>
              <a:t>Unity equilibra; Godot libera; Unreal impresiona; Phaser publica.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990088"/>
            <a:ext cx="5468112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136391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es-MX">
                <a:solidFill>
                  <a:srgbClr val="963700"/>
                </a:solidFill>
                <a:latin typeface="Neuromax SemB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10896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s-MX">
                <a:solidFill>
                  <a:srgbClr val="131315"/>
                </a:solidFill>
                <a:latin typeface="Neuromax SemBd"/>
              </a:rPr>
              <a:t>ELIGE POR EL PROYECTO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447287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 lang="es-MX">
                <a:solidFill>
                  <a:srgbClr val="4F5361"/>
                </a:solidFill>
                <a:latin typeface="Neuromax"/>
              </a:rPr>
              <a:t>2D/3D, lenguaje, plataforma, licencia y tiempo.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8192" y="2990088"/>
            <a:ext cx="5468112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3136391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es-MX">
                <a:solidFill>
                  <a:srgbClr val="963700"/>
                </a:solidFill>
                <a:latin typeface="Neuromax SemB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3" y="310896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s-MX">
                <a:solidFill>
                  <a:srgbClr val="131315"/>
                </a:solidFill>
                <a:latin typeface="Neuromax SemBd"/>
              </a:rPr>
              <a:t>EN ESTE CURSO: UNITY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1423" y="3447287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 lang="es-MX">
                <a:solidFill>
                  <a:srgbClr val="4F5361"/>
                </a:solidFill>
                <a:latin typeface="Neuromax"/>
              </a:rPr>
              <a:t>C#, multiplataforma y útil fuera de los juegos.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370832"/>
            <a:ext cx="5468112" cy="65836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370832"/>
            <a:ext cx="502920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s-MX">
                <a:solidFill>
                  <a:srgbClr val="131315"/>
                </a:solidFill>
                <a:latin typeface="Neuromax SemBd"/>
              </a:rPr>
              <a:t>Antes de programar, decide el alcance.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4370832"/>
            <a:ext cx="5513832" cy="658368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370832"/>
            <a:ext cx="512064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es-MX">
                <a:solidFill>
                  <a:srgbClr val="FFFFFF"/>
                </a:solidFill>
                <a:latin typeface="Neuromax SemBd"/>
              </a:rPr>
              <a:t>Siguiente: 8.5 · GDD, Story Bible y Art Bible.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51460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s-MX" spc="110">
                <a:solidFill>
                  <a:srgbClr val="963700"/>
                </a:solidFill>
                <a:latin typeface="Neuromax SemBd"/>
              </a:rPr>
              <a:t>CRÉDITOS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lang="es-MX">
                <a:solidFill>
                  <a:srgbClr val="131315"/>
                </a:solidFill>
                <a:latin typeface="Neuromax SemBd"/>
              </a:rPr>
              <a:t>CRÉDITOS DE LAS IMÁGENES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es-MX">
                <a:solidFill>
                  <a:srgbClr val="4F5361"/>
                </a:solidFill>
                <a:latin typeface="Neuromax"/>
              </a:rPr>
              <a:t>Fuentes, licencias y atribuciones del material utilizado.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27632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s-MX">
                <a:solidFill>
                  <a:srgbClr val="4F5361"/>
                </a:solidFill>
                <a:latin typeface="Neuromax"/>
              </a:rPr>
              <a:t>•  Unity logo. Unity Technologies. Marca registrada; uso educativo.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0312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s-MX">
                <a:solidFill>
                  <a:srgbClr val="4F5361"/>
                </a:solidFill>
                <a:latin typeface="Neuromax"/>
              </a:rPr>
              <a:t>•  Unreal logo. Epic Games. Marca registrada; uso educativo.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78608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s-MX">
                <a:solidFill>
                  <a:srgbClr val="4F5361"/>
                </a:solidFill>
                <a:latin typeface="Neuromax"/>
              </a:rPr>
              <a:t>•  Godot logo. Godot Engine contributors. CC BY 4.0.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05409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s-MX">
                <a:solidFill>
                  <a:srgbClr val="4F5361"/>
                </a:solidFill>
                <a:latin typeface="Neuromax"/>
              </a:rPr>
              <a:t>•  Phaser logo. Phaser Studio. Licencia MIT.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29584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s-MX">
                <a:solidFill>
                  <a:srgbClr val="4F5361"/>
                </a:solidFill>
                <a:latin typeface="Neuromax"/>
              </a:rPr>
              <a:t>•  Editor Unity 6. Unity Technologies. Uso educativo.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005072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s-MX">
                <a:solidFill>
                  <a:srgbClr val="4F5361"/>
                </a:solidFill>
                <a:latin typeface="Neuromax"/>
              </a:rPr>
              <a:t>•  Editor Godot 4.6. Godot Engine. Uso educativo.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627632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s-MX">
                <a:solidFill>
                  <a:srgbClr val="4F5361"/>
                </a:solidFill>
                <a:latin typeface="Neuromax"/>
              </a:rPr>
              <a:t>•  Unreal Engine 5: monk3y_85. CC BY 3.0.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103120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s-MX">
                <a:solidFill>
                  <a:srgbClr val="4F5361"/>
                </a:solidFill>
                <a:latin typeface="Neuromax"/>
              </a:rPr>
              <a:t>•  Entrenamiento VR: U.S. Army. Dominio público.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578608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s-MX">
                <a:solidFill>
                  <a:srgbClr val="4F5361"/>
                </a:solidFill>
                <a:latin typeface="Neuromax"/>
              </a:rPr>
              <a:t>•  Template, fondos y pixel art: template del curso.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054096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s-MX">
                <a:solidFill>
                  <a:srgbClr val="4F5361"/>
                </a:solidFill>
                <a:latin typeface="Neuromax"/>
              </a:rPr>
              <a:t>•  Tipografía Neuromax: 1001fonts, EULA incluida.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529584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s-MX">
                <a:solidFill>
                  <a:srgbClr val="4F5361"/>
                </a:solidFill>
                <a:latin typeface="Neuromax"/>
              </a:rPr>
              <a:t>•  Capturas y código: elaborados para esta presentación.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4005072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s-MX">
                <a:solidFill>
                  <a:srgbClr val="4F5361"/>
                </a:solidFill>
                <a:latin typeface="Neuromax"/>
              </a:rPr>
              <a:t>•  Datos y versiones: páginas oficiales, 2026.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663440"/>
            <a:ext cx="11055096" cy="475488"/>
          </a:xfrm>
          <a:prstGeom prst="rect">
            <a:avLst/>
          </a:prstGeom>
          <a:solidFill>
            <a:srgbClr val="F7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63440"/>
            <a:ext cx="10607040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es-MX">
                <a:solidFill>
                  <a:srgbClr val="963700"/>
                </a:solidFill>
                <a:latin typeface="Neuromax"/>
              </a:rPr>
              <a:t>Las marcas y juegos citados pertenecen a sus dueños. Se usan con fines educativos.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34924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 lang="es-MX">
                <a:solidFill>
                  <a:srgbClr val="4F5361"/>
                </a:solidFill>
                <a:latin typeface="Neuromax"/>
              </a:rPr>
              <a:t>Enlaces completos en las notas del presentador.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143000"/>
            <a:ext cx="1371600" cy="597680"/>
          </a:xfrm>
          <a:prstGeom prst="rect">
            <a:avLst/>
          </a:prstGeom>
        </p:spPr>
      </p:pic>
      <p:pic>
        <p:nvPicPr>
          <p:cNvPr id="4" name="Picture 3" descr="cloud-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822960"/>
            <a:ext cx="1371600" cy="578296"/>
          </a:xfrm>
          <a:prstGeom prst="rect">
            <a:avLst/>
          </a:prstGeom>
        </p:spPr>
      </p:pic>
      <p:pic>
        <p:nvPicPr>
          <p:cNvPr id="5" name="Picture 4" descr="tr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4160520"/>
            <a:ext cx="1021080" cy="1828800"/>
          </a:xfrm>
          <a:prstGeom prst="rect">
            <a:avLst/>
          </a:prstGeom>
        </p:spPr>
      </p:pic>
      <p:pic>
        <p:nvPicPr>
          <p:cNvPr id="6" name="Picture 5" descr="tree-sma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4480560"/>
            <a:ext cx="958543" cy="1463040"/>
          </a:xfrm>
          <a:prstGeom prst="rect">
            <a:avLst/>
          </a:prstGeom>
        </p:spPr>
      </p:pic>
      <p:pic>
        <p:nvPicPr>
          <p:cNvPr id="7" name="Picture 6" descr="mushroo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5349240"/>
            <a:ext cx="594360" cy="357967"/>
          </a:xfrm>
          <a:prstGeom prst="rect">
            <a:avLst/>
          </a:prstGeom>
        </p:spPr>
      </p:pic>
      <p:pic>
        <p:nvPicPr>
          <p:cNvPr id="8" name="Picture 7" descr="che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32520" y="4892040"/>
            <a:ext cx="1554480" cy="824262"/>
          </a:xfrm>
          <a:prstGeom prst="rect">
            <a:avLst/>
          </a:prstGeom>
        </p:spPr>
      </p:pic>
      <p:pic>
        <p:nvPicPr>
          <p:cNvPr id="9" name="Picture 8" descr="sta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12680" y="4160520"/>
            <a:ext cx="731520" cy="6964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1737360"/>
            <a:ext cx="12191695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 i="0" lang="es-MX">
                <a:solidFill>
                  <a:srgbClr val="131315"/>
                </a:solidFill>
                <a:latin typeface="Neuromax SemBd"/>
              </a:rPr>
              <a:t>¿PREGUNTAS?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297180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4F5361"/>
                </a:solidFill>
                <a:latin typeface="Neuromax"/>
              </a:rPr>
              <a:t>Siguiente: 8.5 · GDD, Story Bible y Art Bible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42900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s-MX">
                <a:solidFill>
                  <a:srgbClr val="963700"/>
                </a:solidFill>
                <a:latin typeface="Neuromax"/>
              </a:rPr>
              <a:t>Un motor no hace el juego. Las decisiones sí.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euromax">
      <a:majorFont>
        <a:latin typeface="Neuromax SemB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euromax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22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3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· Videojuegos</dc:title>
  <dc:subject>TC2005B · Plantilla de diapositivas</dc:subject>
  <dc:creator>TC2005B · Videojuegos</dc:creator>
  <cp:keywords/>
  <dc:description>Tipografía, tamaños y estructuras base para generar diapositivas del curso.</dc:description>
  <cp:lastModifiedBy>TC2005B</cp:lastModifiedBy>
  <cp:revision>1</cp:revision>
  <dcterms:created xsi:type="dcterms:W3CDTF">2013-01-27T09:14:16Z</dcterms:created>
  <dcterms:modified xsi:type="dcterms:W3CDTF">2026-10-20T17:06:20Z</dcterms:modified>
  <cp:category/>
</cp:coreProperties>
</file>