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Bienvenida al tema 8.6.1. Hoy usamos matemáticas básicas para controlar un enemigo en Unity.</a:t>
            </a:r>
          </a:p>
          <a:p/>
          <a:p>
            <a:r>
              <a:t>La meta es que una esfera patrulle entre las esquinas del plano y reconozca cuándo el cubo cae sobre ella. Para lograrlo medimos distancias, normalizamos direcciones y calculamos un ángulo con atan2.</a:t>
            </a:r>
          </a:p>
          <a:p/>
          <a:p>
            <a:r>
              <a:t>El punto de partida es el proyecto Unity_Intro_2, que ya tiene el cubo con movimiento y salto. El proyecto final está en Unity_Intro_3.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Recorrido en cuatro bloques.</a:t>
            </a:r>
          </a:p>
          <a:p/>
          <a:p>
            <a:r>
              <a:t>1. Preparamos la esfera, su collider y su Rigidbody, y conectamos el cubo con el script.</a:t>
            </a:r>
          </a:p>
          <a:p>
            <a:r>
              <a:t>2. Medimos vectores, normalizamos la dirección y movemos la esfera entre las cuatro esquinas.</a:t>
            </a:r>
          </a:p>
          <a:p>
            <a:r>
              <a:t>3. Calculamos el ángulo con atan2 y decidimos si el cubo produjo un pisotón.</a:t>
            </a:r>
          </a:p>
          <a:p>
            <a:r>
              <a:t>4. Probamos el contacto, calibramos el umbral y revisamos los errores más comunes.</a:t>
            </a:r>
          </a:p>
          <a:p/>
          <a:p>
            <a:r>
              <a:t>La explicación sigue el código final de EnemigoEsfera.cs y las capturas del proceso en Unity.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Bloque 1. Preparamos la esfera, su collider y su Rigidbody, y conectamos el cubo con el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proyecto base es Unity_Intro_2. El cubo ya se mueve con WASD, salta con Space y cuenta las caídas.</a:t>
            </a:r>
          </a:p>
          <a:p/>
          <a:p>
            <a:r>
              <a:t>Para este tema agregamos un enemigo nuevo: una esfera que patrulla las esquinas del plano. El cubo conserva su salto y su HUD; no modificamos CubeMove.</a:t>
            </a:r>
          </a:p>
          <a:p/>
          <a:p>
            <a:r>
              <a:t>La escena de trabajo está en Unity_Intro_3. La esfera se llama Enemigo y el script se llama EnemigoEsfera.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crear el script, abre la carpeta Assets en la ventana Project.</a:t>
            </a:r>
          </a:p>
          <a:p/>
          <a:p>
            <a:r>
              <a:t>Haz clic derecho en un espacio vacío, elige Create, luego Scripting y finalmente MonoBehaviour Script. Escribe el nombre EnemigoEsfera.</a:t>
            </a:r>
          </a:p>
          <a:p/>
          <a:p>
            <a:r>
              <a:t>El nombre del archivo debe coincidir con el nombre de la clase. Si no coincide, Unity muestra un error y no puede agregar el componente al GameObject.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Unity crea una clase vacía que hereda de MonoBehaviour.</a:t>
            </a:r>
          </a:p>
          <a:p/>
          <a:p>
            <a:r>
              <a:t>Start se ejecuta una vez, al inicio de la escena. Update se ejecuta en cada frame, muchas veces por segundo.</a:t>
            </a:r>
          </a:p>
          <a:p/>
          <a:p>
            <a:r>
              <a:t>El nombre de la clase debe coincidir con el nombre del archivo. En este caso, la clase y el archivo se llaman EnemigoEsfera.</a:t>
            </a:r>
          </a:p>
          <a:p/>
          <a:p>
            <a:r>
              <a:t>CÓDIGO INICIAL DEL ARCHIVO:</a:t>
            </a:r>
          </a:p>
          <a:p/>
          <a:p>
            <a:r>
              <a:t>using UnityEngine;</a:t>
            </a:r>
          </a:p>
          <a:p/>
          <a:p>
            <a:r>
              <a:t>public class EnemigoEsfera : MonoBehaviour</a:t>
            </a:r>
          </a:p>
          <a:p>
            <a:r>
              <a:t>{</a:t>
            </a:r>
          </a:p>
          <a:p>
            <a:r>
              <a:t>    void Start()</a:t>
            </a:r>
          </a:p>
          <a:p>
            <a:r>
              <a:t>    {</a:t>
            </a:r>
          </a:p>
          <a:p>
            <a:r>
              <a:t>    }</a:t>
            </a:r>
          </a:p>
          <a:p/>
          <a:p>
            <a:r>
              <a:t>    void Update()</a:t>
            </a:r>
          </a:p>
          <a:p>
            <a:r>
              <a:t>    {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Agrega una esfera con GameObject, 3D Object, Sphere. Renómbrala como Enemigo.</a:t>
            </a:r>
          </a:p>
          <a:p/>
          <a:p>
            <a:r>
              <a:t>La esfera mide 1 unidad de diámetro, así que su radio es 0.5. El plano mide 10 por 10 unidades y sus esquinas reales están en 5 y -5.</a:t>
            </a:r>
          </a:p>
          <a:p/>
          <a:p>
            <a:r>
              <a:t>Si el centro de la esfera llega a 5, medio cuerpo queda fuera del plano. Por eso las esquinas de patrulla se meten 0.5 y quedan en 4.5 y -4.5.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Selecciona Enemigo y cambia su Transform.</a:t>
            </a:r>
          </a:p>
          <a:p/>
          <a:p>
            <a:r>
              <a:t>La posición final es X = 4.5, Y = 0.5, Z = 4.5. La altura Y es 0.5 porque la esfera tiene radio 0.5: así queda apoyada sobre el plano y no se hunde.</a:t>
            </a:r>
          </a:p>
          <a:p/>
          <a:p>
            <a:r>
              <a:t>Las cuatro esquinas de patrulla serán (4.5, 0.5, 4.5), (4.5, 0.5, -4.5), (-4.5, 0.5, -4.5) y (-4.5, 0.5, 4.5).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esfera necesita dos componentes.</a:t>
            </a:r>
          </a:p>
          <a:p/>
          <a:p>
            <a:r>
              <a:t>Sphere Collider le permite chocar con el cubo. El radio debe ser 0.5, que coincide con el tamaño de la esfera.</a:t>
            </a:r>
          </a:p>
          <a:p/>
          <a:p>
            <a:r>
              <a:t>Rigidbody le da presencia física, pero marcamos Is Kinematic. Así la gravedad no la mueve y el script puede cambiar transform.position sin pelear con la física.</a:t>
            </a:r>
          </a:p>
          <a:p/>
          <a:p>
            <a:r>
              <a:t>Si olvidas Is Kinematic, la esfera cae al piso y el movimiento entre esquinas se vuelve impredecible.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Selecciona Enemigo y busca el componente Enemigo Esfera.</a:t>
            </a:r>
          </a:p>
          <a:p/>
          <a:p>
            <a:r>
              <a:t>El campo Cubo debe apuntar al Transform del cubo. Haz clic en el círculo del campo, elige la pestaña Scene y selecciona Cube.</a:t>
            </a:r>
          </a:p>
          <a:p/>
          <a:p>
            <a:r>
              <a:t>Si el campo queda en None, el script intenta leer cubo.position y lanza una NullReferenceException cada vez que se ejecuta Pisoton.</a:t>
            </a:r>
          </a:p>
          <a:p/>
          <a:p>
            <a:r>
              <a:t>En la escena, Velocidad vale 5 y Distancia Contacto vale 1.5. El script declara 1.1 por defecto, pero el Inspector manda.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Estos son los datos que el script necesita para trabajar.</a:t>
            </a:r>
          </a:p>
          <a:p/>
          <a:p>
            <a:r>
              <a:t>Cubo es la referencia al jugador. Esquinas guarda las cuatro posiciones. IndiceObjetivo dice cuál esquina se persigue en este momento.</a:t>
            </a:r>
          </a:p>
          <a:p/>
          <a:p>
            <a:r>
              <a:t>Velocidad controla cuántas unidades avanza la esfera por segundo. DistanciaContacto es el radio horizontal que se acepta para el pisotón. AnguloPisoton es el ángulo mínimo, medido desde la horizontal.</a:t>
            </a:r>
          </a:p>
          <a:p/>
          <a:p>
            <a:r>
              <a:t>El Inspector puede cambiar estos valores sin editar el código.</a:t>
            </a:r>
          </a:p>
          <a:p/>
          <a:p>
            <a:r>
              <a:t>CÓDIGO DE LA DIAPOSITIVA (archivo Assets/EnemigoEsfera.cs):</a:t>
            </a:r>
          </a:p>
          <a:p/>
          <a:p>
            <a:r>
              <a:t>public class EnemigoEsfera : MonoBehaviour</a:t>
            </a:r>
          </a:p>
          <a:p>
            <a:r>
              <a:t>{</a:t>
            </a:r>
          </a:p>
          <a:p>
            <a:r>
              <a:t>    public Transform cubo;</a:t>
            </a:r>
          </a:p>
          <a:p>
            <a:r>
              <a:t>    private Vector3[] esquinas;</a:t>
            </a:r>
          </a:p>
          <a:p>
            <a:r>
              <a:t>    public int indiceObjetivo;</a:t>
            </a:r>
          </a:p>
          <a:p>
            <a:r>
              <a:t>    public float velocidad = 5.0f;</a:t>
            </a:r>
          </a:p>
          <a:p>
            <a:r>
              <a:t>    public float distanciaContacto = 1.1f;</a:t>
            </a:r>
          </a:p>
          <a:p>
            <a:r>
              <a:t>    public float anguloPisoton = 60f;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Bloque 2. Medimos vectores, normalizamos la dirección y movemos la esfera entre las cuatro esquinas.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saber si la esfera llegó a la esquina, medimos la distancia entre dos puntos.</a:t>
            </a:r>
          </a:p>
          <a:p/>
          <a:p>
            <a:r>
              <a:t>La fórmula general es d = raíz de dx al cuadrado más dy al cuadrado más dz al cuadrado. En este caso, la esfera y la esquina están a la misma altura, así que dy = 0. La fórmula se reduce a d = raíz de dx al cuadrado más dz al cuadrado.</a:t>
            </a:r>
          </a:p>
          <a:p/>
          <a:p>
            <a:r>
              <a:t>Con la esfera en (4.5, 0.5, 4.5) y la esquina opuesta en (-4.5, 0.5, -4.5), dx = -9 y dz = -9. La distancia es raíz de 162, que es 12.73.</a:t>
            </a:r>
          </a:p>
          <a:p/>
          <a:p>
            <a:r>
              <a:t>La misma distancia horizontal se usa en Pisoton, pero ahí la altura dy se trata por separado con el ángulo.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Longitud calcula el tamaño de un vector con la raíz de la suma de los cuadrados.</a:t>
            </a:r>
          </a:p>
          <a:p/>
          <a:p>
            <a:r>
              <a:t>Normalizar divide cada componente entre la longitud. El resultado tiene longitud 1 y conserva la dirección.</a:t>
            </a:r>
          </a:p>
          <a:p/>
          <a:p>
            <a:r>
              <a:t>El guard evita dividir entre cero cuando el vector es casi nulo. En la práctica, la esfera ya llegó a la esquina y no necesita moverse.</a:t>
            </a:r>
          </a:p>
          <a:p/>
          <a:p>
            <a:r>
              <a:t>Normalizar es importante porque, sin ello, una diagonal de 45 grados avanzaría 1.41 veces más rápido que una línea recta.</a:t>
            </a:r>
          </a:p>
          <a:p/>
          <a:p>
            <a:r>
              <a:t>CÓDIGO DE LA DIAPOSITIVA (archivo Assets/EnemigoEsfera.cs):</a:t>
            </a:r>
          </a:p>
          <a:p/>
          <a:p>
            <a:r>
              <a:t>static float Longitud(Vector3 v)</a:t>
            </a:r>
          </a:p>
          <a:p>
            <a:r>
              <a:t>{</a:t>
            </a:r>
          </a:p>
          <a:p>
            <a:r>
              <a:t>    return (float)Math.Sqrt(v.x * v.x + v.y * v.y + v.z * v.z);</a:t>
            </a:r>
          </a:p>
          <a:p>
            <a:r>
              <a:t>}</a:t>
            </a:r>
          </a:p>
          <a:p/>
          <a:p>
            <a:r>
              <a:t>static Vector3 Normalizar(Vector3 v)</a:t>
            </a:r>
          </a:p>
          <a:p>
            <a:r>
              <a:t>{</a:t>
            </a:r>
          </a:p>
          <a:p>
            <a:r>
              <a:t>    float longitud = Longitud(v);</a:t>
            </a:r>
          </a:p>
          <a:p>
            <a:r>
              <a:t>    if (longitud &lt; 0.0001f) {</a:t>
            </a:r>
          </a:p>
          <a:p>
            <a:r>
              <a:t>        return new Vector3(0f, 0f, 0f);</a:t>
            </a:r>
          </a:p>
          <a:p>
            <a:r>
              <a:t>    }</a:t>
            </a:r>
          </a:p>
          <a:p>
            <a:r>
              <a:t>    return new Vector3(v.x / longitud, v.y / longitud, v.z / longitud);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MoverEsfera sigue cuatro pasos.</a:t>
            </a:r>
          </a:p>
          <a:p/>
          <a:p>
            <a:r>
              <a:t>Primero resta la posición actual al objetivo para obtener el vector hacia. Después mide ese vector con Longitud.</a:t>
            </a:r>
          </a:p>
          <a:p/>
          <a:p>
            <a:r>
              <a:t>Si la distancia es menor a 0.1, la esfera ya llegó. El código elige otra esquina y hace return para no mover ese frame.</a:t>
            </a:r>
          </a:p>
          <a:p/>
          <a:p>
            <a:r>
              <a:t>Si no llegó, normaliza la dirección y calcula el paso con velocidad por deltaTime. La posición nueva es la posición actual más dirección por paso. La altura Y se conserva.</a:t>
            </a:r>
          </a:p>
          <a:p/>
          <a:p>
            <a:r>
              <a:t>CÓDIGO DE LA DIAPOSITIVA (archivo Assets/EnemigoEsfera.cs):</a:t>
            </a:r>
          </a:p>
          <a:p/>
          <a:p>
            <a:r>
              <a:t>void MoverEsfera()</a:t>
            </a:r>
          </a:p>
          <a:p>
            <a:r>
              <a:t>{</a:t>
            </a:r>
          </a:p>
          <a:p>
            <a:r>
              <a:t>    Vector3 objetivo = esquinas[indiceObjetivo];</a:t>
            </a:r>
          </a:p>
          <a:p>
            <a:r>
              <a:t>    Vector3 hacia = objetivo - transform.position;</a:t>
            </a:r>
          </a:p>
          <a:p>
            <a:r>
              <a:t>    float distancia = Longitud(hacia);</a:t>
            </a:r>
          </a:p>
          <a:p/>
          <a:p>
            <a:r>
              <a:t>    if (distancia &lt; 0.1f)</a:t>
            </a:r>
          </a:p>
          <a:p>
            <a:r>
              <a:t>    {</a:t>
            </a:r>
          </a:p>
          <a:p>
            <a:r>
              <a:t>        // Elige otra esquina distinta: suma 1, 2 o 3 y da la vuelta</a:t>
            </a:r>
          </a:p>
          <a:p>
            <a:r>
              <a:t>        indiceObjetivo = (indiceObjetivo + UnityEngine.Random.Range(1, 4)) % 4;</a:t>
            </a:r>
          </a:p>
          <a:p>
            <a:r>
              <a:t>        return;</a:t>
            </a:r>
          </a:p>
          <a:p>
            <a:r>
              <a:t>    }</a:t>
            </a:r>
          </a:p>
          <a:p/>
          <a:p>
            <a:r>
              <a:t>    Vector3 direccion = Normalizar(hacia);</a:t>
            </a:r>
          </a:p>
          <a:p>
            <a:r>
              <a:t>    float paso = velocidad * Time.deltaTime;</a:t>
            </a:r>
          </a:p>
          <a:p/>
          <a:p>
            <a:r>
              <a:t>    transform.position = new Vector3(</a:t>
            </a:r>
          </a:p>
          <a:p>
            <a:r>
              <a:t>        transform.position.x + direccion.x * paso,</a:t>
            </a:r>
          </a:p>
          <a:p>
            <a:r>
              <a:t>        transform.position.y,                       // la altura no cambia</a:t>
            </a:r>
          </a:p>
          <a:p>
            <a:r>
              <a:t>        transform.position.z + direccion.z * paso</a:t>
            </a:r>
          </a:p>
          <a:p>
            <a:r>
              <a:t>    );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prepara las cuatro esquinas y coloca la esfera en una de ellas.</a:t>
            </a:r>
          </a:p>
          <a:p/>
          <a:p>
            <a:r>
              <a:t>NewRandom elige un índice entre 0 y 3 con UnityEngine.Random.Range. El límite superior es exclusivo.</a:t>
            </a:r>
          </a:p>
          <a:p/>
          <a:p>
            <a:r>
              <a:t>InvokeRepeating llama a NewRandom con un retardo de 0 segundos y luego cada 5 segundos. El primer disparo ocurre casi de inmediato, así que la esquina inicial puede cambiar otra vez al inicio.</a:t>
            </a:r>
          </a:p>
          <a:p/>
          <a:p>
            <a:r>
              <a:t>Cuando la esfera llega a menos de 0.1 de la esquina, MoverEsfera elige un desplazamiento de 1, 2 o 3 y da la vuelta con el módulo 4. Ese desplazamiento nunca es cero, así que la esquina nueva es distinta.</a:t>
            </a:r>
          </a:p>
          <a:p/>
          <a:p>
            <a:r>
              <a:t>CÓDIGO DE LA DIAPOSITIVA (archivo Assets/EnemigoEsfera.cs):</a:t>
            </a:r>
          </a:p>
          <a:p/>
          <a:p>
            <a:r>
              <a:t>void Start()</a:t>
            </a:r>
          </a:p>
          <a:p>
            <a:r>
              <a:t>{</a:t>
            </a:r>
          </a:p>
          <a:p>
            <a:r>
              <a:t>    esquinas = new Vector3[4];</a:t>
            </a:r>
          </a:p>
          <a:p>
            <a:r>
              <a:t>    esquinas[0] = new Vector3(-4.5f, 0.5f, -4.5f);</a:t>
            </a:r>
          </a:p>
          <a:p>
            <a:r>
              <a:t>    esquinas[1] = new Vector3( 4.5f, 0.5f, -4.5f);</a:t>
            </a:r>
          </a:p>
          <a:p>
            <a:r>
              <a:t>    esquinas[2] = new Vector3( 4.5f, 0.5f,  4.5f);</a:t>
            </a:r>
          </a:p>
          <a:p>
            <a:r>
              <a:t>    esquinas[3] = new Vector3(-4.5f, 0.5f,  4.5f);</a:t>
            </a:r>
          </a:p>
          <a:p/>
          <a:p>
            <a:r>
              <a:t>    // setup de la primera esquina</a:t>
            </a:r>
          </a:p>
          <a:p>
            <a:r>
              <a:t>    NewRandom();</a:t>
            </a:r>
          </a:p>
          <a:p>
            <a:r>
              <a:t>    transform.position = esquinas[indiceObjetivo];</a:t>
            </a:r>
          </a:p>
          <a:p/>
          <a:p>
            <a:r>
              <a:t>    InvokeRepeating("NewRandom", 0f, 5f);</a:t>
            </a:r>
          </a:p>
          <a:p>
            <a:r>
              <a:t>}</a:t>
            </a:r>
          </a:p>
          <a:p/>
          <a:p>
            <a:r>
              <a:t>void NewRandom()</a:t>
            </a:r>
          </a:p>
          <a:p>
            <a:r>
              <a:t>{</a:t>
            </a:r>
          </a:p>
          <a:p>
            <a:r>
              <a:t>    indiceObjetivo = UnityEngine.Random.Range(0, 4);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Bloque 3. Calculamos el ángulo con atan2 y decidimos si el cubo produjo un pisotón.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primera versión se llamaba Contacto y solo medía la distancia entre los centros.</a:t>
            </a:r>
          </a:p>
          <a:p/>
          <a:p>
            <a:r>
              <a:t>Calculaba Longitud(haciaCubo) e incluía X, Y y Z. Si la distancia era menor que distanciaContacto, devolvía true.</a:t>
            </a:r>
          </a:p>
          <a:p/>
          <a:p>
            <a:r>
              <a:t>El problema es que un golpe lateral también entraba en el umbral. La función no distinguía si el cubo estaba arriba, al lado o abajo.</a:t>
            </a:r>
          </a:p>
          <a:p/>
          <a:p>
            <a:r>
              <a:t>En la prueba, la consola se llenó de OK porque cualquier contacto cumplía la condición. Por eso se reemplazó por Pisoton.</a:t>
            </a:r>
          </a:p>
          <a:p/>
          <a:p>
            <a:r>
              <a:t>CÓDIGO DE LA DIAPOSITIVA (archivo Assets/EnemigoEsfera.cs):</a:t>
            </a:r>
          </a:p>
          <a:p/>
          <a:p>
            <a:r>
              <a:t>// bool Contacto()</a:t>
            </a:r>
          </a:p>
          <a:p>
            <a:r>
              <a:t>// {</a:t>
            </a:r>
          </a:p>
          <a:p>
            <a:r>
              <a:t>//     Vector3 haciaCubo = cubo.position - transform.position;</a:t>
            </a:r>
          </a:p>
          <a:p>
            <a:r>
              <a:t>//     float distanciaCubo = Longitud(haciaCubo);</a:t>
            </a:r>
          </a:p>
          <a:p>
            <a:r>
              <a:t>//</a:t>
            </a:r>
          </a:p>
          <a:p>
            <a:r>
              <a:t>//     if (distanciaCubo &lt;= distanciaContacto)</a:t>
            </a:r>
          </a:p>
          <a:p>
            <a:r>
              <a:t>//     {</a:t>
            </a:r>
          </a:p>
          <a:p>
            <a:r>
              <a:t>//         return true;</a:t>
            </a:r>
          </a:p>
          <a:p>
            <a:r>
              <a:t>//     }</a:t>
            </a:r>
          </a:p>
          <a:p>
            <a:r>
              <a:t>//     return false;</a:t>
            </a:r>
          </a:p>
          <a:p>
            <a:r>
              <a:t>// 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decidir si el cubo cayó encima, separamos la altura de la distancia horizontal.</a:t>
            </a:r>
          </a:p>
          <a:p/>
          <a:p>
            <a:r>
              <a:t>Horizontal es raíz de dx al cuadrado más dz al cuadrado. Es la distancia vista desde arriba. La altura dy no entra en horizontal.</a:t>
            </a:r>
          </a:p>
          <a:p/>
          <a:p>
            <a:r>
              <a:t>El ángulo de elevación sale de atan2(dy, horizontal). Atan2 recibe primero la altura y luego la distancia horizontal. Devuelve radianes, así que se multiplica por 180 y se divide entre pi.</a:t>
            </a:r>
          </a:p>
          <a:p/>
          <a:p>
            <a:r>
              <a:t>El ángulo de 60 grados se mide desde la horizontal. Eso equivale a 30 grados desde la vertical.</a:t>
            </a:r>
          </a:p>
          <a:p/>
          <a:p>
            <a:r>
              <a:t>La condición también pide horizontal menor o igual a distanciaContacto. Las dos condiciones juntas forman un cono recortado por un cilindro. No es una esfera de contacto.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Pisoton calcula el vector que va de la esfera al cubo y separa dx, dy y dz.</a:t>
            </a:r>
          </a:p>
          <a:p/>
          <a:p>
            <a:r>
              <a:t>Horizontal es la raíz de dx al cuadrado más dz al cuadrado. Esa distancia no incluye la altura.</a:t>
            </a:r>
          </a:p>
          <a:p/>
          <a:p>
            <a:r>
              <a:t>Atan2 calcula el ángulo de elevación. Recibe primero dy y luego horizontal. La multiplicación por 180 y la división entre pi convierten radianes a grados.</a:t>
            </a:r>
          </a:p>
          <a:p/>
          <a:p>
            <a:r>
              <a:t>La condición exige que el ángulo sea mayor o igual a anguloPisoton y que horizontal sea menor o igual a distanciaContacto.</a:t>
            </a:r>
          </a:p>
          <a:p/>
          <a:p>
            <a:r>
              <a:t>Si se cumple, escribe PISOTON, llama a Reset y devuelve true. Si no, devuelve false. El valor de retorno todavía se ignora en Update.</a:t>
            </a:r>
          </a:p>
          <a:p/>
          <a:p>
            <a:r>
              <a:t>CÓDIGO DE LA DIAPOSITIVA (archivo Assets/EnemigoEsfera.cs):</a:t>
            </a:r>
          </a:p>
          <a:p/>
          <a:p>
            <a:r>
              <a:t>bool Pisoton()</a:t>
            </a:r>
          </a:p>
          <a:p>
            <a:r>
              <a:t>{</a:t>
            </a:r>
          </a:p>
          <a:p>
            <a:r>
              <a:t>    Vector3 haciaCubo = cubo.position - transform.position;</a:t>
            </a:r>
          </a:p>
          <a:p>
            <a:r>
              <a:t>    float dx = haciaCubo.x;</a:t>
            </a:r>
          </a:p>
          <a:p>
            <a:r>
              <a:t>    float dy = haciaCubo.y;</a:t>
            </a:r>
          </a:p>
          <a:p>
            <a:r>
              <a:t>    float dz = haciaCubo.z;</a:t>
            </a:r>
          </a:p>
          <a:p/>
          <a:p>
            <a:r>
              <a:t>    float horizontal = (float) Math.Sqrt(dx*dx + dz*dz);  // distancia horizontal</a:t>
            </a:r>
          </a:p>
          <a:p>
            <a:r>
              <a:t>    float angulo = (float)(Math.Atan2(dy, horizontal) * 180.0 / Math.PI); // angulo vertical</a:t>
            </a:r>
          </a:p>
          <a:p/>
          <a:p>
            <a:r>
              <a:t>    if (angulo &gt;= anguloPisoton &amp;&amp; horizontal &lt;= distanciaContacto){</a:t>
            </a:r>
          </a:p>
          <a:p>
            <a:r>
              <a:t>        Debug.Log("PISOTON");</a:t>
            </a:r>
          </a:p>
          <a:p>
            <a:r>
              <a:t>        Reset();</a:t>
            </a:r>
          </a:p>
          <a:p>
            <a:r>
              <a:t>        return true;</a:t>
            </a:r>
          </a:p>
          <a:p>
            <a:r>
              <a:t>    }</a:t>
            </a:r>
          </a:p>
          <a:p>
            <a:r>
              <a:t>    return false;</a:t>
            </a:r>
          </a:p>
          <a:p/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Reset elige una esquina nueva con NewRandom y cambia transform.position.</a:t>
            </a:r>
          </a:p>
          <a:p/>
          <a:p>
            <a:r>
              <a:t>La esfera no desaparece y el juego no termina. El InvokeRepeating sigue activo, así que el objetivo puede cambiar otra vez a los cinco segundos.</a:t>
            </a:r>
          </a:p>
          <a:p/>
          <a:p>
            <a:r>
              <a:t>Update llama primero a MoverEsfera y después a Pisoton. Contacto quedó comentada como paso didáctico.</a:t>
            </a:r>
          </a:p>
          <a:p/>
          <a:p>
            <a:r>
              <a:t>Pisoton devuelve un bool, pero Update lo ignora. Ese valor queda disponible para una victoria o una derrota futura.</a:t>
            </a:r>
          </a:p>
          <a:p/>
          <a:p>
            <a:r>
              <a:t>NewRandom puede repetir la misma esquina. Si eso pasa, la esfera no se mueve y el log PISOTON puede repetirse en cada frame. No hay una bandera resuelto que lo impida.</a:t>
            </a:r>
          </a:p>
          <a:p/>
          <a:p>
            <a:r>
              <a:t>CÓDIGO DE LA DIAPOSITIVA (archivo Assets/EnemigoEsfera.cs):</a:t>
            </a:r>
          </a:p>
          <a:p/>
          <a:p>
            <a:r>
              <a:t>void Reset()</a:t>
            </a:r>
          </a:p>
          <a:p>
            <a:r>
              <a:t>{</a:t>
            </a:r>
          </a:p>
          <a:p>
            <a:r>
              <a:t>    NewRandom();</a:t>
            </a:r>
          </a:p>
          <a:p>
            <a:r>
              <a:t>    transform.position = esquinas[indiceObjetivo];</a:t>
            </a:r>
          </a:p>
          <a:p>
            <a:r>
              <a:t>}</a:t>
            </a:r>
          </a:p>
          <a:p/>
          <a:p>
            <a:r>
              <a:t>void Update()</a:t>
            </a:r>
          </a:p>
          <a:p>
            <a:r>
              <a:t>{</a:t>
            </a:r>
          </a:p>
          <a:p>
            <a:r>
              <a:t>    MoverEsfera();</a:t>
            </a:r>
          </a:p>
          <a:p>
            <a:r>
              <a:t>    // Contacto();</a:t>
            </a:r>
          </a:p>
          <a:p>
            <a:r>
              <a:t>    Pisoton();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Bloque 4. Probamos el contacto, miramos la consola y calibramos el umbral.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Prueba el sistema en este orden.</a:t>
            </a:r>
          </a:p>
          <a:p/>
          <a:p>
            <a:r>
              <a:t>Primero camina contra la esfera sin saltar. No debe aparecer PISOTON, porque el ángulo es bajo.</a:t>
            </a:r>
          </a:p>
          <a:p/>
          <a:p>
            <a:r>
              <a:t>Después salta y cae sobre la esfera. Debe aparecer PISOTON y la esfera debe cambiar de esquina.</a:t>
            </a:r>
          </a:p>
          <a:p/>
          <a:p>
            <a:r>
              <a:t>Prueba también un salto cerca del borde. El ángulo no debe alcanzar 60 grados.</a:t>
            </a:r>
          </a:p>
          <a:p/>
          <a:p>
            <a:r>
              <a:t>Por último, espera cinco segundos sin tocar nada. El índice objetivo debe cambiar, aunque puede repetir la misma esquina.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umbral de 60 grados y el radio de 1.5 no son independientes.</a:t>
            </a:r>
          </a:p>
          <a:p/>
          <a:p>
            <a:r>
              <a:t>Para que el ángulo llegue a 60 grados, la altura mínima es horizontal por tangente de 60 grados.</a:t>
            </a:r>
          </a:p>
          <a:p/>
          <a:p>
            <a:r>
              <a:t>Con horizontal 0.5, dy mínimo es 0.87 y el centro del cubo debe estar en y = 1.37. Con horizontal 1.0, dy mínimo es 1.73 y el centro debe estar en y = 2.23. Con horizontal 1.5, dy mínimo es 2.60 y el centro debe estar en y = 3.10.</a:t>
            </a:r>
          </a:p>
          <a:p/>
          <a:p>
            <a:r>
              <a:t>Por eso el radio efectivo es menor que 1.5: el salto normal no alcanza esas alturas. Calibra distanciaContacto y anguloPisoton con el salto real del cubo.</a:t>
            </a:r>
          </a:p>
          <a:p/>
          <a:p>
            <a:r>
              <a:t>En la escena, distanciaContacto vale 1.5. El script declara 1.1 por defecto, pero el Inspector manda.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Revisa estos errores antes de calibrar.</a:t>
            </a:r>
          </a:p>
          <a:p/>
          <a:p>
            <a:r>
              <a:t>Random ambiguo: usa UnityEngine.Random.Range porque el archivo tiene using System.</a:t>
            </a:r>
          </a:p>
          <a:p/>
          <a:p>
            <a:r>
              <a:t>Atan2 devuelve radianes. Multiplica por 180 y divide entre Math.PI.</a:t>
            </a:r>
          </a:p>
          <a:p/>
          <a:p>
            <a:r>
              <a:t>Horizontal no es la distancia 3D. La altura dy se usa en el ángulo.</a:t>
            </a:r>
          </a:p>
          <a:p/>
          <a:p>
            <a:r>
              <a:t>Reset puede repetir la misma esquina porque NewRandom puede devolver el mismo índice. No hay bandera resuelto.</a:t>
            </a:r>
          </a:p>
          <a:p/>
          <a:p>
            <a:r>
              <a:t>Si la esfera se cae, revisa Is Kinematic. Si el cubo no recupera el salto sobre la esfera, recuerda que estaEnSuelo solo se activa al chocar con el plano.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Resumen de lo aprendido.</a:t>
            </a:r>
          </a:p>
          <a:p/>
          <a:p>
            <a:r>
              <a:t>La distancia se calcula con Longitud. Para el pisotón usamos la distancia horizontal, que ignora la altura.</a:t>
            </a:r>
          </a:p>
          <a:p/>
          <a:p>
            <a:r>
              <a:t>Normalizar convierte el vector en una dirección de longitud 1 y evita que la diagonal sea más rápida.</a:t>
            </a:r>
          </a:p>
          <a:p/>
          <a:p>
            <a:r>
              <a:t>Atan2 calcula el ángulo de elevación con dy y horizontal. El ángulo se mide desde la horizontal.</a:t>
            </a:r>
          </a:p>
          <a:p/>
          <a:p>
            <a:r>
              <a:t>El pisotón exige ángulo suficiente y radio horizontal suficiente. Las dos condiciones se cumplen al mismo tiempo.</a:t>
            </a:r>
          </a:p>
          <a:p/>
          <a:p>
            <a:r>
              <a:t>La misma base sirve para persecución: cambia el objetivo de la esquina al cubo y repite las operaciones.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Créditos y referencias.</a:t>
            </a:r>
          </a:p>
          <a:p/>
          <a:p>
            <a:r>
              <a:t>Las capturas de Unity y VS Code se elaboraron para este curso. El proyecto Unity_Intro_3 y el código EnemigoEsfera.cs son material del curso.</a:t>
            </a:r>
          </a:p>
          <a:p/>
          <a:p>
            <a:r>
              <a:t>La guía enemigo esfera, las figuras y los diagramas también son material del curso.</a:t>
            </a:r>
          </a:p>
          <a:p/>
          <a:p>
            <a:r>
              <a:t>Enlaces:</a:t>
            </a:r>
          </a:p>
          <a:p>
            <a:r>
              <a:t>https://docs.unity3d.com/ScriptReference/Vector3.html</a:t>
            </a:r>
          </a:p>
          <a:p>
            <a:r>
              <a:t>https://docs.unity3d.com/ScriptReference/Mathf.Atan2.html</a:t>
            </a:r>
          </a:p>
          <a:p>
            <a:r>
              <a:t>https://docs.unity3d.com/ScriptReference/MonoBehaviour.InvokeRepeating.html</a:t>
            </a:r>
          </a:p>
          <a:p>
            <a:r>
              <a:t>https://docs.unity3d.com/Manual/class-Rigidbody.html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del tema.</a:t>
            </a:r>
          </a:p>
          <a:p/>
          <a:p>
            <a:r>
              <a:t>Recuerda las cuatro operaciones: restar para obtener el vector, medir con Longitud, normalizar para obtener la dirección y sumar para mover.</a:t>
            </a:r>
          </a:p>
          <a:p/>
          <a:p>
            <a:r>
              <a:t>La esfera ya patrulla y reconoce un pisotón. En el siguiente tema veremos colisiones entre rectángulos y cubos.</a:t>
            </a:r>
          </a:p>
          <a:p/>
          <a:p>
            <a:r>
              <a:t>Los archivos del tema están en T8-6-1_content y el proyecto final en Unity_Intro_3.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1.png"/><Relationship Id="rId9" Type="http://schemas.openxmlformats.org/officeDocument/2006/relationships/image" Target="../media/image10.png"/><Relationship Id="rId10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92608"/>
            <a:ext cx="82296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8.6.1 · MATEMÁTICAS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486400" cy="2240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 i="0">
                <a:solidFill>
                  <a:srgbClr val="131315"/>
                </a:solidFill>
                <a:latin typeface="Neuromax SemBd"/>
              </a:rPr>
              <a:t>MATEMÁTICAS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 i="0">
                <a:solidFill>
                  <a:srgbClr val="131315"/>
                </a:solidFill>
                <a:latin typeface="Neuromax SemBd"/>
              </a:rPr>
              <a:t>PARA ENEMIGOS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246120"/>
            <a:ext cx="2011680" cy="6400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47472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31315"/>
                </a:solidFill>
                <a:latin typeface="Neuromax"/>
              </a:rPr>
              <a:t>Distancia, ángulos y vectores en 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968496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Una esfera que patrulla y detecta un pisotón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315968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31315"/>
                </a:solidFill>
                <a:latin typeface="Neuromax"/>
              </a:rPr>
              <a:t>TC2005B · Construcción de Software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603504"/>
            <a:ext cx="5650992" cy="4526280"/>
          </a:xfrm>
          <a:prstGeom prst="rect">
            <a:avLst/>
          </a:prstGeom>
          <a:solidFill>
            <a:srgbClr val="2B2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07-escena-esf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842753"/>
            <a:ext cx="2487168" cy="2036101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327648" y="2926080"/>
            <a:ext cx="248716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Neuromax SemBd"/>
              </a:rPr>
              <a:t>ESCENA</a:t>
            </a:r>
          </a:p>
        </p:txBody>
      </p:sp>
      <p:pic>
        <p:nvPicPr>
          <p:cNvPr id="13" name="Picture 12" descr="diagrama-angul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5984" y="843534"/>
            <a:ext cx="2331720" cy="1165860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9015984" y="2048256"/>
            <a:ext cx="23317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Neuromax SemBd"/>
              </a:rPr>
              <a:t>ÁNGULO</a:t>
            </a:r>
          </a:p>
        </p:txBody>
      </p:sp>
      <p:pic>
        <p:nvPicPr>
          <p:cNvPr id="15" name="Picture 14" descr="diagrama-distanci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964942"/>
            <a:ext cx="3977639" cy="1988819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6327648" y="4992624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Neuromax SemBd"/>
              </a:rPr>
              <a:t>DISTANCIA + ÁNGULO = PISOTÓN</a:t>
            </a:r>
          </a:p>
        </p:txBody>
      </p:sp>
      <p:pic>
        <p:nvPicPr>
          <p:cNvPr id="17" name="Picture 16" descr="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256032"/>
            <a:ext cx="1234440" cy="512064"/>
          </a:xfrm>
          <a:prstGeom prst="rect">
            <a:avLst/>
          </a:prstGeom>
        </p:spPr>
      </p:pic>
      <p:pic>
        <p:nvPicPr>
          <p:cNvPr id="18" name="Picture 17" descr="tre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590288"/>
            <a:ext cx="1005840" cy="1801368"/>
          </a:xfrm>
          <a:prstGeom prst="rect">
            <a:avLst/>
          </a:prstGeom>
        </p:spPr>
      </p:pic>
      <p:pic>
        <p:nvPicPr>
          <p:cNvPr id="19" name="Picture 18" descr="tree-smal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8448" y="5239512"/>
            <a:ext cx="731520" cy="1115568"/>
          </a:xfrm>
          <a:prstGeom prst="rect">
            <a:avLst/>
          </a:prstGeom>
        </p:spPr>
      </p:pic>
      <p:pic>
        <p:nvPicPr>
          <p:cNvPr id="20" name="Picture 19" descr="mushroo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93392" y="5916168"/>
            <a:ext cx="557784" cy="3383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81160" y="535838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F5361"/>
                </a:solidFill>
                <a:latin typeface="Neuromax"/>
              </a:rPr>
              <a:t>Unity 6.3 LTS · URP 3D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74320"/>
            <a:ext cx="82296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46888"/>
            <a:ext cx="9601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8.6.1 · RECORRIDO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09270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LO QUE VEREMOS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270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La clase tiene cuatro bloques: de la esfera en la escena al pisotón.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17904"/>
            <a:ext cx="1105509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64008" cy="65836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64207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5309"/>
                </a:solidFill>
                <a:latin typeface="Neuromax SemB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618488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31315"/>
                </a:solidFill>
                <a:latin typeface="Neuromax SemBd"/>
              </a:rPr>
              <a:t>LA ESFERA EN LA ESCENA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901952"/>
            <a:ext cx="8595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4F5361"/>
                </a:solidFill>
                <a:latin typeface="Neuromax"/>
              </a:rPr>
              <a:t>Agregamos la esfera, la hacemos cinemática y conectamos el cubo.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1682495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31315"/>
                </a:solidFill>
                <a:latin typeface="Neuromax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249424"/>
            <a:ext cx="1105509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249424"/>
            <a:ext cx="64008" cy="658368"/>
          </a:xfrm>
          <a:prstGeom prst="rect">
            <a:avLst/>
          </a:prstGeom>
          <a:solidFill>
            <a:srgbClr val="E838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3957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386D"/>
                </a:solidFill>
                <a:latin typeface="Neuromax SemB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350008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31315"/>
                </a:solidFill>
                <a:latin typeface="Neuromax SemBd"/>
              </a:rPr>
              <a:t>DISTANCIA Y MOVIMIENTO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2633472"/>
            <a:ext cx="8595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4F5361"/>
                </a:solidFill>
                <a:latin typeface="Neuromax"/>
              </a:rPr>
              <a:t>Medimos vectores, normalizamos la dirección y patrullamos entre esquinas.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2414016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31315"/>
                </a:solidFill>
                <a:latin typeface="Neuromax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980944"/>
            <a:ext cx="1105509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980944"/>
            <a:ext cx="64008" cy="65836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12724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5309"/>
                </a:solidFill>
                <a:latin typeface="Neuromax SemB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081527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31315"/>
                </a:solidFill>
                <a:latin typeface="Neuromax SemBd"/>
              </a:rPr>
              <a:t>ÁNGULO Y PISOTÓN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364991"/>
            <a:ext cx="8595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4F5361"/>
                </a:solidFill>
                <a:latin typeface="Neuromax"/>
              </a:rPr>
              <a:t>Calculamos el ángulo con atan2 y decidimos si el cubo cae encima.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3145536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31315"/>
                </a:solidFill>
                <a:latin typeface="Neuromax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712463"/>
            <a:ext cx="1105509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712463"/>
            <a:ext cx="64008" cy="658368"/>
          </a:xfrm>
          <a:prstGeom prst="rect">
            <a:avLst/>
          </a:prstGeom>
          <a:solidFill>
            <a:srgbClr val="E838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85876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386D"/>
                </a:solidFill>
                <a:latin typeface="Neuromax SemBd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3813048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31315"/>
                </a:solidFill>
                <a:latin typeface="Neuromax SemBd"/>
              </a:rPr>
              <a:t>PRUEBAS Y AJUSTES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4096511"/>
            <a:ext cx="8595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4F5361"/>
                </a:solidFill>
                <a:latin typeface="Neuromax"/>
              </a:rPr>
              <a:t>Probamos el contacto, calibramos el umbral y revisamos errores.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3877055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31315"/>
                </a:solidFill>
                <a:latin typeface="Neuromax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248656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Al final, la esfera patrulla sola y reconoce un pisotón.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92608"/>
            <a:ext cx="82296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BLOQUE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 i="0">
                <a:solidFill>
                  <a:srgbClr val="F08A3C"/>
                </a:solidFill>
                <a:latin typeface="Neuromax SemB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55648"/>
            <a:ext cx="6766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31315"/>
                </a:solidFill>
                <a:latin typeface="Neuromax SemBd"/>
              </a:rPr>
              <a:t>UNA ESFERA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31315"/>
                </a:solidFill>
                <a:latin typeface="Neuromax SemBd"/>
              </a:rPr>
              <a:t>QUE PATRULLA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520440"/>
            <a:ext cx="2011680" cy="6400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767328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F5361"/>
                </a:solidFill>
                <a:latin typeface="Neuromax"/>
              </a:rPr>
              <a:t>Primero preparamos el objeto, su collider y su Rigidbody.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77316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5309"/>
                </a:solidFill>
                <a:latin typeface="Neuromax SemBd"/>
              </a:rPr>
              <a:t>ESFERA · COLLIDER · RIGIDBODY · SCRIPT</a:t>
            </a:r>
          </a:p>
        </p:txBody>
      </p:sp>
      <p:pic>
        <p:nvPicPr>
          <p:cNvPr id="10" name="Picture 9" descr="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4" y="1005840"/>
            <a:ext cx="1682496" cy="731520"/>
          </a:xfrm>
          <a:prstGeom prst="rect">
            <a:avLst/>
          </a:prstGeom>
        </p:spPr>
      </p:pic>
      <p:pic>
        <p:nvPicPr>
          <p:cNvPr id="11" name="Picture 10" descr="cloud-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502920"/>
            <a:ext cx="1280160" cy="530352"/>
          </a:xfrm>
          <a:prstGeom prst="rect">
            <a:avLst/>
          </a:prstGeom>
        </p:spPr>
      </p:pic>
      <p:pic>
        <p:nvPicPr>
          <p:cNvPr id="12" name="Picture 11" descr="s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440" y="3063240"/>
            <a:ext cx="960120" cy="914400"/>
          </a:xfrm>
          <a:prstGeom prst="rect">
            <a:avLst/>
          </a:prstGeom>
        </p:spPr>
      </p:pic>
      <p:pic>
        <p:nvPicPr>
          <p:cNvPr id="13" name="Picture 12" descr="ch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4526280"/>
            <a:ext cx="224028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74320"/>
            <a:ext cx="82296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46888"/>
            <a:ext cx="9601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8.6.1 · 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09270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PARTIMOS DE UN CUBO QUE YA SALTA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270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El proyecto Unity_Intro_2 ya tiene movimiento, salto y contador de caídas.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5166360" cy="3886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64008" cy="388620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4592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45309"/>
                </a:solidFill>
                <a:latin typeface="Neuromax SemBd"/>
              </a:rPr>
              <a:t>LO QUE YA EXISTE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993392"/>
            <a:ext cx="4617720" cy="3108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4F5361"/>
                </a:solidFill>
                <a:latin typeface="Neuromax"/>
              </a:rPr>
              <a:t>El cubo se mueve con WASD y salta con la barra espaciadora.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4F5361"/>
                </a:solidFill>
                <a:latin typeface="Neuromax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4F5361"/>
                </a:solidFill>
                <a:latin typeface="Neuromax"/>
              </a:rPr>
              <a:t>CubeMove conserva el Rigidbody, la detección de suelo y el contador de caídas.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4F5361"/>
                </a:solidFill>
                <a:latin typeface="Neuromax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4F5361"/>
                </a:solidFill>
                <a:latin typeface="Neuromax"/>
              </a:rPr>
              <a:t>El nuevo enemigo será una esfera que patrulla el plano.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4F5361"/>
                </a:solidFill>
                <a:latin typeface="Neuromax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4F5361"/>
                </a:solidFill>
                <a:latin typeface="Neuromax"/>
              </a:rPr>
              <a:t>No modificamos CubeMove: agregamos EnemigoEsfera.</a:t>
            </a:r>
          </a:p>
        </p:txBody>
      </p:sp>
      <p:pic>
        <p:nvPicPr>
          <p:cNvPr id="11" name="Picture 10" descr="07-escena-esf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66027"/>
            <a:ext cx="5074920" cy="4154544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74320"/>
            <a:ext cx="82296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46888"/>
            <a:ext cx="9601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8.6.1 ·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09270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CREAR EL SCRIPT DEL ENEMIGO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270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En la carpeta Assets, haz clic derecho y elige Create → Scripting → MonoBehaviour Script.</a:t>
            </a:r>
          </a:p>
        </p:txBody>
      </p:sp>
      <p:pic>
        <p:nvPicPr>
          <p:cNvPr id="7" name="Picture 6" descr="01-crear-scri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" y="1444752"/>
            <a:ext cx="4155948" cy="2770632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66928" y="4370832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Neuromax"/>
              </a:rPr>
              <a:t>Ruta: Create → Scripting → MonoBehaviour 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444752"/>
            <a:ext cx="640080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74920" y="1444752"/>
            <a:ext cx="64008" cy="4023360"/>
          </a:xfrm>
          <a:prstGeom prst="rect">
            <a:avLst/>
          </a:prstGeom>
          <a:solidFill>
            <a:srgbClr val="E838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64592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E8386D"/>
                </a:solidFill>
                <a:latin typeface="Neuromax SemB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627632"/>
            <a:ext cx="5349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Abre la carpeta Assets en la ventana Project.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487168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E8386D"/>
                </a:solidFill>
                <a:latin typeface="Neuromax SemB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468880"/>
            <a:ext cx="5349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Haz clic derecho en un espacio vacío.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328416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E8386D"/>
                </a:solidFill>
                <a:latin typeface="Neuromax SemB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310128"/>
            <a:ext cx="5349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Elige Create → Scripting → MonoBehaviour Script.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4169664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E8386D"/>
                </a:solidFill>
                <a:latin typeface="Neuromax SemB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151376"/>
            <a:ext cx="5349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Escribe el nombre EnemigoEsfera y presiona Enter.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5074920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280"/>
                </a:solidFill>
                <a:latin typeface="Neuromax"/>
              </a:rPr>
              <a:t>El archivo debe quedar dentro de Assets.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650992"/>
            <a:ext cx="1021384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760720"/>
            <a:ext cx="98755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4F5361"/>
                </a:solidFill>
                <a:latin typeface="Neuromax"/>
              </a:rPr>
              <a:t>Unity compila el script cuando está dentro de la carpeta Assets.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74320"/>
            <a:ext cx="82296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46888"/>
            <a:ext cx="9601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8.6.1 ·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09270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EL SCRIPT EMPIEZA VACÍO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270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Unity crea la clase con Start y Update; ahí escribiremos la lógica.</a:t>
            </a:r>
          </a:p>
        </p:txBody>
      </p:sp>
      <p:pic>
        <p:nvPicPr>
          <p:cNvPr id="7" name="Picture 6" descr="02-script-vac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64374"/>
            <a:ext cx="4754880" cy="2630802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66928" y="422452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Neuromax"/>
              </a:rPr>
              <a:t>Esta es la plantilla inicial de EnemigoEsfera.cs.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444752"/>
            <a:ext cx="5760720" cy="3886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0" y="1444752"/>
            <a:ext cx="64008" cy="388620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61888" y="1609344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45309"/>
                </a:solidFill>
                <a:latin typeface="Neuromax SemBd"/>
              </a:rPr>
              <a:t>TRES IDEAS BÁSICAS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1888" y="1938528"/>
            <a:ext cx="5212080" cy="3017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EnemigoEsfera hereda de MonoBehaviour. Eso permite agregarlo a un GameObject.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Start se ejecuta una vez, al comenzar la escena. Ahí preparamos las esquinas.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Update se ejecuta una vez por frame. Ahí movemos la esfera y comprobamos el pisotón.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50992"/>
            <a:ext cx="1021384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760720"/>
            <a:ext cx="98755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4F5361"/>
                </a:solidFill>
                <a:latin typeface="Neuromax"/>
              </a:rPr>
              <a:t>El nombre de la clase debe ser igual al nombre del archivo.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74320"/>
            <a:ext cx="82296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46888"/>
            <a:ext cx="9601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8.6.1 · ESCENA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09270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AGREGAR LA ESFERA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270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Abre GameObject → 3D Object → Sphere y cámbiale el nombre a Enemigo.</a:t>
            </a:r>
          </a:p>
        </p:txBody>
      </p:sp>
      <p:pic>
        <p:nvPicPr>
          <p:cNvPr id="7" name="Picture 6" descr="03-crear-esf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45209"/>
            <a:ext cx="3931920" cy="4049877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4892040" y="1444752"/>
            <a:ext cx="658368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92040" y="1444752"/>
            <a:ext cx="64008" cy="3977639"/>
          </a:xfrm>
          <a:prstGeom prst="rect">
            <a:avLst/>
          </a:prstGeom>
          <a:solidFill>
            <a:srgbClr val="E838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609344"/>
            <a:ext cx="5989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386D"/>
                </a:solidFill>
                <a:latin typeface="Neuromax SemBd"/>
              </a:rPr>
              <a:t>MEDIDAS QUE IMPORTAN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8928" y="1938528"/>
            <a:ext cx="5989320" cy="3108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La esfera primitiva mide 1 unidad de diámetro; su radio es 0.5.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El plano primitivo mide 10 × 10. Sus esquinas reales están en ±5.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Para que la esfera no se salga, las esquinas de patrulla se meten 0.5: quedan en ±4.5.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Renombra la esfera como Enemigo para encontrarla fácilmente.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650992"/>
            <a:ext cx="1021384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760720"/>
            <a:ext cx="98755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4F5361"/>
                </a:solidFill>
                <a:latin typeface="Neuromax"/>
              </a:rPr>
              <a:t>El centro de la esfera debe quedar dentro del plano.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74320"/>
            <a:ext cx="82296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46888"/>
            <a:ext cx="9601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8.6.1 · TRANSFORM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09270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COLOCAR LA ESFERA EN UNA ESQUINA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270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Usa Position = (4.5, 0.5, 4.5); Y = 0.5 evita que la esfera se hunda.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44752"/>
            <a:ext cx="475488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44752"/>
            <a:ext cx="64008" cy="169164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91056"/>
            <a:ext cx="434340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La esfera aparece en el centro. La movemos a una esquina.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/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Y = 0.5 es la mitad de la esfera: así queda apoyada sobre el plano.</a:t>
            </a:r>
          </a:p>
        </p:txBody>
      </p:sp>
      <p:pic>
        <p:nvPicPr>
          <p:cNvPr id="10" name="Picture 9" descr="06-inspector-esqui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96" y="3346704"/>
            <a:ext cx="4740942" cy="1517904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66928" y="4937760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Neuromax"/>
              </a:rPr>
              <a:t>El Inspector muestra la posición final.</a:t>
            </a:r>
          </a:p>
        </p:txBody>
      </p:sp>
      <p:pic>
        <p:nvPicPr>
          <p:cNvPr id="12" name="Picture 11" descr="07-escena-esf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47739"/>
            <a:ext cx="5074920" cy="4154544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502920" y="5650992"/>
            <a:ext cx="1021384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760720"/>
            <a:ext cx="98755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4F5361"/>
                </a:solidFill>
                <a:latin typeface="Neuromax"/>
              </a:rPr>
              <a:t>Las cuatro esquinas de patrulla están en X y Z iguales a ±4.5.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74320"/>
            <a:ext cx="82296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46888"/>
            <a:ext cx="9601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8.6.1 · FÍSICA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09270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HACERLA CINEMÁTICA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270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Sphere Collider detecta el contacto; Rigidbody con Is Kinematic evita la gravedad.</a:t>
            </a:r>
          </a:p>
        </p:txBody>
      </p:sp>
      <p:pic>
        <p:nvPicPr>
          <p:cNvPr id="7" name="Picture 6" descr="08-sphere-coll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71" y="1444752"/>
            <a:ext cx="3447352" cy="3794760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66928" y="5303520"/>
            <a:ext cx="35204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Neuromax"/>
              </a:rPr>
              <a:t>Sphere Collider tiene radio 0.5.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444752"/>
            <a:ext cx="315468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444752"/>
            <a:ext cx="64008" cy="2743200"/>
          </a:xfrm>
          <a:prstGeom prst="rect">
            <a:avLst/>
          </a:prstGeom>
          <a:solidFill>
            <a:srgbClr val="E838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591056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386D"/>
                </a:solidFill>
                <a:latin typeface="Neuromax SemBd"/>
              </a:rPr>
              <a:t>DOS COMPONENTES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920240"/>
            <a:ext cx="2743200" cy="2057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Sphere Collider permite que el cubo choque con la esfera.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Rigidbody con Is Kinematic evita que la gravedad mueva la esfera.</a:t>
            </a:r>
          </a:p>
        </p:txBody>
      </p:sp>
      <p:pic>
        <p:nvPicPr>
          <p:cNvPr id="13" name="Picture 12" descr="09-rigid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446053"/>
            <a:ext cx="3429000" cy="2265109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8092440" y="3785615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Neuromax"/>
              </a:rPr>
              <a:t>Is Kinematic está marcado.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160520"/>
            <a:ext cx="34290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El script cambia transform.position; la física no debe moverla por su cuenta.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650992"/>
            <a:ext cx="1021384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760720"/>
            <a:ext cx="98755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4F5361"/>
                </a:solidFill>
                <a:latin typeface="Neuromax"/>
              </a:rPr>
              <a:t>Sin Is Kinematic, la esfera cae por la gravedad y no puedes controlar su posición.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74320"/>
            <a:ext cx="82296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46888"/>
            <a:ext cx="9601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8.6.1 · INSPECTOR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09270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CONECTAR EL CUBO CON EL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270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Arrastra el objeto Cube al campo Cubo; si queda vacío, el script falla.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4892040" cy="1234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El campo Cubo guarda una referencia al Transform del jugador. La esfera lo usa para calcular la distancia y el ángulo.</a:t>
            </a:r>
          </a:p>
        </p:txBody>
      </p:sp>
      <p:pic>
        <p:nvPicPr>
          <p:cNvPr id="8" name="Picture 7" descr="11-script-cubo-n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836712"/>
            <a:ext cx="4892040" cy="809670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66928" y="3694176"/>
            <a:ext cx="48920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Neuromax"/>
              </a:rPr>
              <a:t>El campo Cubo está vacío.</a:t>
            </a:r>
          </a:p>
        </p:txBody>
      </p:sp>
      <p:pic>
        <p:nvPicPr>
          <p:cNvPr id="10" name="Picture 9" descr="13-parametr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977" y="4041648"/>
            <a:ext cx="4875940" cy="813816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66928" y="4901184"/>
            <a:ext cx="48920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Neuromax"/>
              </a:rPr>
              <a:t>El Cubo está asignado y los parámetros están listos.</a:t>
            </a:r>
          </a:p>
        </p:txBody>
      </p:sp>
      <p:pic>
        <p:nvPicPr>
          <p:cNvPr id="12" name="Picture 11" descr="12-asignar-cub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9285" y="1444752"/>
            <a:ext cx="4975069" cy="2551176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355080" y="4096512"/>
            <a:ext cx="4983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Neuromax"/>
              </a:rPr>
              <a:t>Selecciona Cube en la lista Scene.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650992"/>
            <a:ext cx="1021384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760720"/>
            <a:ext cx="98755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4F5361"/>
                </a:solidFill>
                <a:latin typeface="Neuromax"/>
              </a:rPr>
              <a:t>Si el campo Cubo queda en None, Pisoton lanza NullReferenceException.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74320"/>
            <a:ext cx="82296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46888"/>
            <a:ext cx="9601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8.6.1 ·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09270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LOS DATOS DE LA ESFERA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270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Seis campos guardan el objetivo, la velocidad y los umbrales.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44752"/>
            <a:ext cx="7150608" cy="33751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code_camp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600200"/>
            <a:ext cx="6766560" cy="306428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50608" y="1517904"/>
            <a:ext cx="420624" cy="201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8" y="1549908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F5361"/>
                </a:solidFill>
                <a:latin typeface="Neuromax SemBd"/>
              </a:rPr>
              <a:t>C#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1554480"/>
            <a:ext cx="3666744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cubo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1801368"/>
            <a:ext cx="36667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Guarda una referencia al Transform del jugador.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258568"/>
            <a:ext cx="3666744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esquinas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505456"/>
            <a:ext cx="36667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Contiene las cuatro posiciones del plano.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962656"/>
            <a:ext cx="3666744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indiceObjetivo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209544"/>
            <a:ext cx="36667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Indica la esquina que la esfera persigue.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666744"/>
            <a:ext cx="3666744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velocidad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913631"/>
            <a:ext cx="36667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Indica las unidades que avanza por segundo.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370831"/>
            <a:ext cx="3666744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distanciaContacto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4617719"/>
            <a:ext cx="36667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Define el radio horizontal del pisotón.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5074919"/>
            <a:ext cx="3666744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anguloPisoton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5321807"/>
            <a:ext cx="36667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Define el ángulo mínimo en grados.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650992"/>
            <a:ext cx="1021384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760720"/>
            <a:ext cx="98755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4F5361"/>
                </a:solidFill>
                <a:latin typeface="Neuromax"/>
              </a:rPr>
              <a:t>En la escena, distanciaContacto vale 1.5 y anguloPisoton vale 60.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92608"/>
            <a:ext cx="82296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BLOQUE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 i="0">
                <a:solidFill>
                  <a:srgbClr val="F08A3C"/>
                </a:solidFill>
                <a:latin typeface="Neuromax SemBd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55648"/>
            <a:ext cx="6766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31315"/>
                </a:solidFill>
                <a:latin typeface="Neuromax SemBd"/>
              </a:rPr>
              <a:t>DISTANCIA 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31315"/>
                </a:solidFill>
                <a:latin typeface="Neuromax SemBd"/>
              </a:rPr>
              <a:t>MOVIMIENTO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520440"/>
            <a:ext cx="2011680" cy="6400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767328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F5361"/>
                </a:solidFill>
                <a:latin typeface="Neuromax"/>
              </a:rPr>
              <a:t>Restar, medir, normalizar y sumar para mover la esfera.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77316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5309"/>
                </a:solidFill>
                <a:latin typeface="Neuromax SemBd"/>
              </a:rPr>
              <a:t>VECTORES · LONGITUD · NORMALIZACIÓN · DELTA TIME</a:t>
            </a:r>
          </a:p>
        </p:txBody>
      </p:sp>
      <p:pic>
        <p:nvPicPr>
          <p:cNvPr id="10" name="Picture 9" descr="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4" y="1005840"/>
            <a:ext cx="1682496" cy="731520"/>
          </a:xfrm>
          <a:prstGeom prst="rect">
            <a:avLst/>
          </a:prstGeom>
        </p:spPr>
      </p:pic>
      <p:pic>
        <p:nvPicPr>
          <p:cNvPr id="11" name="Picture 10" descr="cloud-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502920"/>
            <a:ext cx="1280160" cy="530352"/>
          </a:xfrm>
          <a:prstGeom prst="rect">
            <a:avLst/>
          </a:prstGeom>
        </p:spPr>
      </p:pic>
      <p:pic>
        <p:nvPicPr>
          <p:cNvPr id="12" name="Picture 11" descr="s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440" y="3063240"/>
            <a:ext cx="960120" cy="914400"/>
          </a:xfrm>
          <a:prstGeom prst="rect">
            <a:avLst/>
          </a:prstGeom>
        </p:spPr>
      </p:pic>
      <p:pic>
        <p:nvPicPr>
          <p:cNvPr id="13" name="Picture 12" descr="ch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4526280"/>
            <a:ext cx="224028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74320"/>
            <a:ext cx="82296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46888"/>
            <a:ext cx="9601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8.6.1 · DISTANCIA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09270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LA DISTANCIA ES UN TRIÁNGULO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270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La esfera y la esquina están a la misma altura, así que solo importan X y Z.</a:t>
            </a:r>
          </a:p>
        </p:txBody>
      </p:sp>
      <p:pic>
        <p:nvPicPr>
          <p:cNvPr id="7" name="Picture 6" descr="diagrama-dista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3" y="1481328"/>
            <a:ext cx="98755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74320"/>
            <a:ext cx="82296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46888"/>
            <a:ext cx="9601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8.6.1 ·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09270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MEDIR Y NORMALIZAR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270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Longitud mide el vector; Normalizar lo convierte en dirección unitaria.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44752"/>
            <a:ext cx="7150607" cy="32993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code_longit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600200"/>
            <a:ext cx="6766559" cy="298846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50607" y="1517904"/>
            <a:ext cx="420624" cy="201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7" y="1549908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F5361"/>
                </a:solidFill>
                <a:latin typeface="Neuromax SemBd"/>
              </a:rPr>
              <a:t>C#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59" y="1554480"/>
            <a:ext cx="3666744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Longitud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59" y="1801368"/>
            <a:ext cx="36667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La función calcula √(x² + y² + z²) con Math.Sqrt.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59" y="2258568"/>
            <a:ext cx="3666744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Normalizar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59" y="2505456"/>
            <a:ext cx="36667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Divide cada componente entre la longitud.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59" y="2962656"/>
            <a:ext cx="3666744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Protección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59" y="3209544"/>
            <a:ext cx="36667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Si la longitud es casi cero, devuelve el vector cero.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59" y="3666744"/>
            <a:ext cx="3666744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Uso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59" y="3913631"/>
            <a:ext cx="36667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La dirección unitaria evita que la diagonal sea más rápida.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650992"/>
            <a:ext cx="1021384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760720"/>
            <a:ext cx="98755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4F5361"/>
                </a:solidFill>
                <a:latin typeface="Neuromax"/>
              </a:rPr>
              <a:t>Sin normalizar, una diagonal de 45° avanza √2 veces más rápido.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74320"/>
            <a:ext cx="82296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46888"/>
            <a:ext cx="9601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8.6.1 ·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09270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MOVER LA ESFERA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270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Resta el objetivo, mide, normaliza y suma un paso por frame.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44752"/>
            <a:ext cx="6125156" cy="40142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code_m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600200"/>
            <a:ext cx="5741108" cy="3703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25156" y="1517904"/>
            <a:ext cx="420624" cy="201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5156" y="1549908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F5361"/>
                </a:solidFill>
                <a:latin typeface="Neuromax SemBd"/>
              </a:rPr>
              <a:t>C#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4108" y="1554480"/>
            <a:ext cx="4692195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hacia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4108" y="1801368"/>
            <a:ext cx="46921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Es el vector que falta para llegar a la esquina.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4108" y="2258568"/>
            <a:ext cx="4692195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distancia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4108" y="2505456"/>
            <a:ext cx="46921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Longitud(hacia) decide si ya llegó.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4108" y="2962656"/>
            <a:ext cx="4692195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direccion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4108" y="3209544"/>
            <a:ext cx="46921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Normalizar deja una dirección de longitud 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4108" y="3666744"/>
            <a:ext cx="4692195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paso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4108" y="3913631"/>
            <a:ext cx="46921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Es la velocidad por deltaTime: la distancia de este frame.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4108" y="4370831"/>
            <a:ext cx="4692195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posición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4108" y="4617719"/>
            <a:ext cx="46921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La posición nueva es la actual más dirección por paso.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650992"/>
            <a:ext cx="1021384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760720"/>
            <a:ext cx="98755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4F5361"/>
                </a:solidFill>
                <a:latin typeface="Neuromax"/>
              </a:rPr>
              <a:t>La altura Y se conserva para que la esfera no se eleve.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74320"/>
            <a:ext cx="82296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46888"/>
            <a:ext cx="9601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8.6.1 ·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09270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CAMBIAR DE ESQUINA CADA 5 SEGUNDOS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270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InvokeRepeating llama a NewRandom al inicio y después cada cinco segundos.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44752"/>
            <a:ext cx="4816809" cy="40142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code_st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600200"/>
            <a:ext cx="4432761" cy="3703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816809" y="1517904"/>
            <a:ext cx="420624" cy="201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16809" y="1549908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F5361"/>
                </a:solidFill>
                <a:latin typeface="Neuromax SemBd"/>
              </a:rPr>
              <a:t>C#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5761" y="1554480"/>
            <a:ext cx="600054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esquinas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5761" y="1801368"/>
            <a:ext cx="600054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Guarda cuatro vectores a ±4.5 en X y Z.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5761" y="2258568"/>
            <a:ext cx="600054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NewRandom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5761" y="2505456"/>
            <a:ext cx="600054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Elige un índice entre 0 y 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5761" y="2962656"/>
            <a:ext cx="600054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InvokeRepeating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5761" y="3209544"/>
            <a:ext cx="600054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Llama a NewRandom cada 5 segundos.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5761" y="3666744"/>
            <a:ext cx="600054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primer disparo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5761" y="3913631"/>
            <a:ext cx="600054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Ocurre casi de inmediato; puede cambiar la esquina inicial.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5761" y="4370831"/>
            <a:ext cx="600054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llegada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5761" y="4617719"/>
            <a:ext cx="600054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Si la distancia es menor a 0.1, elige otra esquina distinta.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650992"/>
            <a:ext cx="1021384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760720"/>
            <a:ext cx="98755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4F5361"/>
                </a:solidFill>
                <a:latin typeface="Neuromax"/>
              </a:rPr>
              <a:t>El temporizador puede cambiar el objetivo mientras la esfera viaja.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92608"/>
            <a:ext cx="82296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BLOQUE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 i="0">
                <a:solidFill>
                  <a:srgbClr val="F08A3C"/>
                </a:solidFill>
                <a:latin typeface="Neuromax SemBd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55648"/>
            <a:ext cx="6766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31315"/>
                </a:solidFill>
                <a:latin typeface="Neuromax SemBd"/>
              </a:rPr>
              <a:t>CONTACTO 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31315"/>
                </a:solidFill>
                <a:latin typeface="Neuromax SemBd"/>
              </a:rPr>
              <a:t>PISOTÓN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520440"/>
            <a:ext cx="2011680" cy="6400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767328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F5361"/>
                </a:solidFill>
                <a:latin typeface="Neuromax"/>
              </a:rPr>
              <a:t>Medir la distancia no basta: hay que saber desde qué dirección llega el cubo.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77316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5309"/>
                </a:solidFill>
                <a:latin typeface="Neuromax SemBd"/>
              </a:rPr>
              <a:t>CONTACTO · ATAN2 · ÁNGULO · RESET</a:t>
            </a:r>
          </a:p>
        </p:txBody>
      </p:sp>
      <p:pic>
        <p:nvPicPr>
          <p:cNvPr id="10" name="Picture 9" descr="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4" y="1005840"/>
            <a:ext cx="1682496" cy="731520"/>
          </a:xfrm>
          <a:prstGeom prst="rect">
            <a:avLst/>
          </a:prstGeom>
        </p:spPr>
      </p:pic>
      <p:pic>
        <p:nvPicPr>
          <p:cNvPr id="11" name="Picture 10" descr="cloud-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502920"/>
            <a:ext cx="1280160" cy="530352"/>
          </a:xfrm>
          <a:prstGeom prst="rect">
            <a:avLst/>
          </a:prstGeom>
        </p:spPr>
      </p:pic>
      <p:pic>
        <p:nvPicPr>
          <p:cNvPr id="12" name="Picture 11" descr="s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440" y="3063240"/>
            <a:ext cx="960120" cy="914400"/>
          </a:xfrm>
          <a:prstGeom prst="rect">
            <a:avLst/>
          </a:prstGeom>
        </p:spPr>
      </p:pic>
      <p:pic>
        <p:nvPicPr>
          <p:cNvPr id="13" name="Picture 12" descr="ch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4526280"/>
            <a:ext cx="224028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74320"/>
            <a:ext cx="82296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46888"/>
            <a:ext cx="9601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8.6.1 ·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09270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PRIMER INTENTO: CONTACTO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270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La primera versión solo mide la distancia entre los centros.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44752"/>
            <a:ext cx="6190488" cy="28031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code_contac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600200"/>
            <a:ext cx="5806440" cy="249223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90488" y="1517904"/>
            <a:ext cx="420624" cy="201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0488" y="1549908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F5361"/>
                </a:solidFill>
                <a:latin typeface="Neuromax SemBd"/>
              </a:rPr>
              <a:t>C#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554480"/>
            <a:ext cx="4434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386D"/>
                </a:solidFill>
                <a:latin typeface="Neuromax SemBd"/>
              </a:rPr>
              <a:t>QUÉ HACE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847088"/>
            <a:ext cx="4434840" cy="196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F5361"/>
                </a:solidFill>
                <a:latin typeface="Neuromax"/>
              </a:rPr>
              <a:t>Calcula Longitud(haciaCubo) con X, Y y Z.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F5361"/>
                </a:solidFill>
                <a:latin typeface="Neuromax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F5361"/>
                </a:solidFill>
                <a:latin typeface="Neuromax"/>
              </a:rPr>
              <a:t>Si la distancia es menor que distanciaContacto, devuelve true.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F5361"/>
                </a:solidFill>
                <a:latin typeface="Neuromax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F5361"/>
                </a:solidFill>
                <a:latin typeface="Neuromax"/>
              </a:rPr>
              <a:t>No distingue si el cubo está arriba, al lado o abajo.</a:t>
            </a:r>
          </a:p>
        </p:txBody>
      </p:sp>
      <p:pic>
        <p:nvPicPr>
          <p:cNvPr id="13" name="Picture 12" descr="14b-prueba-conso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277" y="3840480"/>
            <a:ext cx="4429724" cy="1682496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74320"/>
            <a:ext cx="82296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46888"/>
            <a:ext cx="9601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8.6.1 · ÁNGULO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09270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SEPARAR LA ALTURA DEL PLANO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270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La distancia horizontal es √(dx² + dz²); el ángulo sale de atan2(dy, horizontal).</a:t>
            </a:r>
          </a:p>
        </p:txBody>
      </p:sp>
      <p:pic>
        <p:nvPicPr>
          <p:cNvPr id="7" name="Picture 6" descr="diagrama-angu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3" y="1481328"/>
            <a:ext cx="98755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74320"/>
            <a:ext cx="82296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46888"/>
            <a:ext cx="9601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8.6.1 ·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09270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LA FUNCIÓN PISOTON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270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El ángulo y el radio horizontal deben cumplirse al mismo tiempo.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44752"/>
            <a:ext cx="7150607" cy="34648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code_pisot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600200"/>
            <a:ext cx="6766559" cy="315393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50607" y="1517904"/>
            <a:ext cx="420624" cy="201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7" y="1549908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F5361"/>
                </a:solidFill>
                <a:latin typeface="Neuromax SemBd"/>
              </a:rPr>
              <a:t>C#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59" y="1554480"/>
            <a:ext cx="3666744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haciaCubo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59" y="1801368"/>
            <a:ext cx="36667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Va del centro de la esfera al centro del cubo.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59" y="2258568"/>
            <a:ext cx="3666744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horizontal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59" y="2505456"/>
            <a:ext cx="36667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Es √(dx² + dz²); no incluye la altura.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59" y="2962656"/>
            <a:ext cx="3666744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atan2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59" y="3209544"/>
            <a:ext cx="36667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Recibe primero dy y luego horizontal.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59" y="3666744"/>
            <a:ext cx="3666744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grados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59" y="3913631"/>
            <a:ext cx="36667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Multiplica por 180 / π para convertir radianes.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59" y="4370831"/>
            <a:ext cx="3666744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condición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59" y="4617719"/>
            <a:ext cx="36667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Pide ángulo suficiente y radio horizontal.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650992"/>
            <a:ext cx="1021384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760720"/>
            <a:ext cx="98755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4F5361"/>
                </a:solidFill>
                <a:latin typeface="Neuromax"/>
              </a:rPr>
              <a:t>60° desde la horizontal equivale a 30° desde la vertical.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74320"/>
            <a:ext cx="82296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46888"/>
            <a:ext cx="9601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8.6.1 ·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09270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RESET Y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270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Reset reubica la esfera; Update decide el orden de las llamadas.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44752"/>
            <a:ext cx="6923569" cy="40142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code_reset_upd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600200"/>
            <a:ext cx="6539521" cy="3703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23569" y="1517904"/>
            <a:ext cx="420624" cy="2011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23569" y="1549908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F5361"/>
                </a:solidFill>
                <a:latin typeface="Neuromax SemBd"/>
              </a:rPr>
              <a:t>C#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2521" y="1554480"/>
            <a:ext cx="389378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Reset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2521" y="1801368"/>
            <a:ext cx="389378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Elige una esquina aleatoria y teletransporta la esfera.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2521" y="2258568"/>
            <a:ext cx="389378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juego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2521" y="2505456"/>
            <a:ext cx="389378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La esfera no desaparece ni termina la partida.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2521" y="2962656"/>
            <a:ext cx="389378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2521" y="3209544"/>
            <a:ext cx="389378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Primero mueve; después comprueba el pisotón.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2521" y="3666744"/>
            <a:ext cx="389378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Contacto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2521" y="3913631"/>
            <a:ext cx="389378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Quedó comentada como paso didáctico.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2521" y="4370831"/>
            <a:ext cx="389378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retorno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2521" y="4617719"/>
            <a:ext cx="389378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El bool de Pisoton se ignora por ahora.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650992"/>
            <a:ext cx="1021384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760720"/>
            <a:ext cx="98755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4F5361"/>
                </a:solidFill>
                <a:latin typeface="Neuromax"/>
              </a:rPr>
              <a:t>No hay pantalla de victoria ni derrota; solo el log y el teletransporte.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92608"/>
            <a:ext cx="82296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BLOQUE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 i="0">
                <a:solidFill>
                  <a:srgbClr val="F08A3C"/>
                </a:solidFill>
                <a:latin typeface="Neuromax SemBd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55648"/>
            <a:ext cx="6766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31315"/>
                </a:solidFill>
                <a:latin typeface="Neuromax SemBd"/>
              </a:rPr>
              <a:t>PRUEBAS 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31315"/>
                </a:solidFill>
                <a:latin typeface="Neuromax SemBd"/>
              </a:rPr>
              <a:t>AJUSTES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520440"/>
            <a:ext cx="2011680" cy="6400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767328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F5361"/>
                </a:solidFill>
                <a:latin typeface="Neuromax"/>
              </a:rPr>
              <a:t>Probamos, miramos la consola y calibramos el umbral.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77316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5309"/>
                </a:solidFill>
                <a:latin typeface="Neuromax SemBd"/>
              </a:rPr>
              <a:t>PRUEBAS · CONSOLA · UMBRAL · ERRORES</a:t>
            </a:r>
          </a:p>
        </p:txBody>
      </p:sp>
      <p:pic>
        <p:nvPicPr>
          <p:cNvPr id="10" name="Picture 9" descr="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4" y="1005840"/>
            <a:ext cx="1682496" cy="731520"/>
          </a:xfrm>
          <a:prstGeom prst="rect">
            <a:avLst/>
          </a:prstGeom>
        </p:spPr>
      </p:pic>
      <p:pic>
        <p:nvPicPr>
          <p:cNvPr id="11" name="Picture 10" descr="cloud-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502920"/>
            <a:ext cx="1280160" cy="530352"/>
          </a:xfrm>
          <a:prstGeom prst="rect">
            <a:avLst/>
          </a:prstGeom>
        </p:spPr>
      </p:pic>
      <p:pic>
        <p:nvPicPr>
          <p:cNvPr id="12" name="Picture 11" descr="s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440" y="3063240"/>
            <a:ext cx="960120" cy="914400"/>
          </a:xfrm>
          <a:prstGeom prst="rect">
            <a:avLst/>
          </a:prstGeom>
        </p:spPr>
      </p:pic>
      <p:pic>
        <p:nvPicPr>
          <p:cNvPr id="13" name="Picture 12" descr="ch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4526280"/>
            <a:ext cx="224028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74320"/>
            <a:ext cx="82296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46888"/>
            <a:ext cx="9601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8.6.1 · PRUEBAS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09270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PROBAR EL PISOTÓN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270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Cuatro pruebas separan el contacto lateral del pisotón real.</a:t>
            </a:r>
          </a:p>
        </p:txBody>
      </p:sp>
      <p:pic>
        <p:nvPicPr>
          <p:cNvPr id="7" name="Picture 6" descr="14a-prueba-esce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45940"/>
            <a:ext cx="4343400" cy="3929543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66928" y="5413248"/>
            <a:ext cx="4343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Neuromax"/>
              </a:rPr>
              <a:t>La esfera patrulla mientras el cubo salta.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0" y="1444752"/>
            <a:ext cx="630936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57800" y="1444752"/>
            <a:ext cx="64008" cy="3977639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1627632"/>
            <a:ext cx="58064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5309"/>
                </a:solidFill>
                <a:latin typeface="Neuromax SemBd"/>
              </a:rPr>
              <a:t>CONTACTO LATERAL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883664"/>
            <a:ext cx="5806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Camina contra la esfera sin saltar. No debe aparecer PISOTON.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523744"/>
            <a:ext cx="58064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5309"/>
                </a:solidFill>
                <a:latin typeface="Neuromax SemBd"/>
              </a:rPr>
              <a:t>CAÍDA DESDE ARRIBA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779776"/>
            <a:ext cx="5806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Salta y cae sobre la esfera. Debe aparecer PISOTON y la esfera debe reubicarse.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419856"/>
            <a:ext cx="58064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5309"/>
                </a:solidFill>
                <a:latin typeface="Neuromax SemBd"/>
              </a:rPr>
              <a:t>BORDE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675887"/>
            <a:ext cx="5806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Salta cerca del borde. El ángulo no debe alcanzar 60 grados.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315968"/>
            <a:ext cx="58064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5309"/>
                </a:solidFill>
                <a:latin typeface="Neuromax SemBd"/>
              </a:rPr>
              <a:t>TEMPORIZADOR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572000"/>
            <a:ext cx="5806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4F5361"/>
                </a:solidFill>
                <a:latin typeface="Neuromax"/>
              </a:rPr>
              <a:t>Espera cinco segundos. El índice objetivo debe cambiar.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650992"/>
            <a:ext cx="1021384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760720"/>
            <a:ext cx="98755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4F5361"/>
                </a:solidFill>
                <a:latin typeface="Neuromax"/>
              </a:rPr>
              <a:t>Revisa la consola: el log PISOTON confirma la detección.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74320"/>
            <a:ext cx="82296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46888"/>
            <a:ext cx="9601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8.6.1 · AJUSTE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09270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AJUSTAR EL UMBRAL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270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Cuanto más lejos del centro, más alto debe estar el cubo para cumplir 60°.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3401568" cy="2057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91640"/>
            <a:ext cx="64008" cy="205740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847088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45309"/>
                </a:solidFill>
                <a:latin typeface="Neuromax SemBd"/>
              </a:rPr>
              <a:t>horizontal = 0.5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194560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31315"/>
                </a:solidFill>
                <a:latin typeface="Neuromax SemBd"/>
              </a:rPr>
              <a:t>0.87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230428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Neuromax"/>
              </a:rPr>
              <a:t>dy mínimo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90779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F5361"/>
                </a:solidFill>
                <a:latin typeface="Neuromax"/>
              </a:rPr>
              <a:t>Centro del cubo: y = 1.37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2461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Neuromax"/>
              </a:rPr>
              <a:t>Así el ángulo llega a 60°.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1691640"/>
            <a:ext cx="3401568" cy="2057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691640"/>
            <a:ext cx="64008" cy="2057400"/>
          </a:xfrm>
          <a:prstGeom prst="rect">
            <a:avLst/>
          </a:prstGeom>
          <a:solidFill>
            <a:srgbClr val="E838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847088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386D"/>
                </a:solidFill>
                <a:latin typeface="Neuromax SemBd"/>
              </a:rPr>
              <a:t>horizontal = 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194560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31315"/>
                </a:solidFill>
                <a:latin typeface="Neuromax SemBd"/>
              </a:rPr>
              <a:t>1.73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0408" y="230428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Neuromax"/>
              </a:rPr>
              <a:t>dy mínimo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90779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F5361"/>
                </a:solidFill>
                <a:latin typeface="Neuromax"/>
              </a:rPr>
              <a:t>Centro del cubo: y = 2.23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32461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Neuromax"/>
              </a:rPr>
              <a:t>Así el ángulo llega a 60°.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1691640"/>
            <a:ext cx="3401568" cy="2057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5008" y="1691640"/>
            <a:ext cx="64008" cy="205740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1847088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45309"/>
                </a:solidFill>
                <a:latin typeface="Neuromax SemBd"/>
              </a:rPr>
              <a:t>horizontal = 1.5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2194560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31315"/>
                </a:solidFill>
                <a:latin typeface="Neuromax SemBd"/>
              </a:rPr>
              <a:t>2.60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230428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Neuromax"/>
              </a:rPr>
              <a:t>dy mínimo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8" y="290779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F5361"/>
                </a:solidFill>
                <a:latin typeface="Neuromax"/>
              </a:rPr>
              <a:t>Centro del cubo: y = 3.10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32461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Neuromax"/>
              </a:rPr>
              <a:t>Así el ángulo llega a 60°.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160520"/>
            <a:ext cx="11055096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315968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45309"/>
                </a:solidFill>
                <a:latin typeface="Neuromax SemBd"/>
              </a:rPr>
              <a:t>CÓMO LEER LA TABLA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4617720"/>
            <a:ext cx="10515600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F5361"/>
                </a:solidFill>
                <a:latin typeface="Neuromax"/>
              </a:rPr>
              <a:t>dy mínimo = horizontal × tan(60°). Cuanto mayor es la distancia lateral, más alto debe estar el cubo. El radio efectivo del pisotón es menor que distanciaContacto porque el salto tiene altura limitada.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650992"/>
            <a:ext cx="1021384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760720"/>
            <a:ext cx="98755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4F5361"/>
                </a:solidFill>
                <a:latin typeface="Neuromax"/>
              </a:rPr>
              <a:t>En la escena, distanciaContacto vale 1.5 y anguloPisoton vale 60.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74320"/>
            <a:ext cx="82296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46888"/>
            <a:ext cx="9601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8.6.1 · REVISIÓN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09270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ERRORES COMUNES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270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Estos detalles explican la mayoría de los fallos al probar la esfera.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3493008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64008" cy="157276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700784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45309"/>
                </a:solidFill>
                <a:latin typeface="Neuromax SemB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31315"/>
                </a:solidFill>
                <a:latin typeface="Neuromax SemBd"/>
              </a:rPr>
              <a:t>RANDOM AMBIGUO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86000"/>
            <a:ext cx="306324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F5361"/>
                </a:solidFill>
                <a:latin typeface="Neuromax"/>
              </a:rPr>
              <a:t>Usa UnityEngine.Random.Range, no Random.Range.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572768"/>
            <a:ext cx="3493008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572768"/>
            <a:ext cx="64008" cy="1572768"/>
          </a:xfrm>
          <a:prstGeom prst="rect">
            <a:avLst/>
          </a:prstGeom>
          <a:solidFill>
            <a:srgbClr val="E838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700784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8386D"/>
                </a:solidFill>
                <a:latin typeface="Neuromax SemB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1938528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31315"/>
                </a:solidFill>
                <a:latin typeface="Neuromax SemBd"/>
              </a:rPr>
              <a:t>ATAN2 EN RADIANES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286000"/>
            <a:ext cx="306324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F5361"/>
                </a:solidFill>
                <a:latin typeface="Neuromax"/>
              </a:rPr>
              <a:t>Convierte con 180 / Math.PI.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7" y="1572768"/>
            <a:ext cx="3493008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7" y="1572768"/>
            <a:ext cx="64008" cy="157276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5" y="1700784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45309"/>
                </a:solidFill>
                <a:latin typeface="Neuromax SemB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5" y="1938528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31315"/>
                </a:solidFill>
                <a:latin typeface="Neuromax SemBd"/>
              </a:rPr>
              <a:t>HORIZONTAL NO ES 3D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2286000"/>
            <a:ext cx="306324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F5361"/>
                </a:solidFill>
                <a:latin typeface="Neuromax"/>
              </a:rPr>
              <a:t>La altura dy se usa en el ángulo, no en horizontal.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355848"/>
            <a:ext cx="3493008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355848"/>
            <a:ext cx="64008" cy="1572768"/>
          </a:xfrm>
          <a:prstGeom prst="rect">
            <a:avLst/>
          </a:prstGeom>
          <a:solidFill>
            <a:srgbClr val="E838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483864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8386D"/>
                </a:solidFill>
                <a:latin typeface="Neuromax SemB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721608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31315"/>
                </a:solidFill>
                <a:latin typeface="Neuromax SemBd"/>
              </a:rPr>
              <a:t>RESET REPITE ESQUINA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069080"/>
            <a:ext cx="306324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F5361"/>
                </a:solidFill>
                <a:latin typeface="Neuromax"/>
              </a:rPr>
              <a:t>No hay bandera resuelto; el log puede repetirse.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5968" y="3355848"/>
            <a:ext cx="3493008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15968" y="3355848"/>
            <a:ext cx="64008" cy="157276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7136" y="3483864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45309"/>
                </a:solidFill>
                <a:latin typeface="Neuromax SemBd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7136" y="3721608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31315"/>
                </a:solidFill>
                <a:latin typeface="Neuromax SemBd"/>
              </a:rPr>
              <a:t>LA ESFERA SE CAE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4069080"/>
            <a:ext cx="306324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F5361"/>
                </a:solidFill>
                <a:latin typeface="Neuromax"/>
              </a:rPr>
              <a:t>Activa Is Kinematic en el Rigidbody.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65007" y="3355848"/>
            <a:ext cx="3493008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65007" y="3355848"/>
            <a:ext cx="64008" cy="1572768"/>
          </a:xfrm>
          <a:prstGeom prst="rect">
            <a:avLst/>
          </a:prstGeom>
          <a:solidFill>
            <a:srgbClr val="E838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66175" y="3483864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8386D"/>
                </a:solidFill>
                <a:latin typeface="Neuromax SemBd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5" y="3721608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31315"/>
                </a:solidFill>
                <a:latin typeface="Neuromax SemBd"/>
              </a:rPr>
              <a:t>EL CUBO NO SALTA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5" y="4069080"/>
            <a:ext cx="306324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F5361"/>
                </a:solidFill>
                <a:latin typeface="Neuromax"/>
              </a:rPr>
              <a:t>estaEnSuelo solo se activa con el plano.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650992"/>
            <a:ext cx="1021384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760720"/>
            <a:ext cx="98755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4F5361"/>
                </a:solidFill>
                <a:latin typeface="Neuromax"/>
              </a:rPr>
              <a:t>Corrige estos puntos antes de ajustar los umbrales.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74320"/>
            <a:ext cx="82296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46888"/>
            <a:ext cx="9601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8.6.1 · 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09270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LO QUE APRENDISTE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270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Cuatro ideas para mover y detectar enemigos con matemáticas.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45920"/>
            <a:ext cx="2615184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64008" cy="265176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828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45309"/>
                </a:solidFill>
                <a:latin typeface="Neuromax SemB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1945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31315"/>
                </a:solidFill>
                <a:latin typeface="Neuromax SemBd"/>
              </a:rPr>
              <a:t>DISTANCIA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97480"/>
            <a:ext cx="219456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Longitud mide el vector; la horizontal separa XZ de 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645920"/>
            <a:ext cx="2615184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645920"/>
            <a:ext cx="64008" cy="2651760"/>
          </a:xfrm>
          <a:prstGeom prst="rect">
            <a:avLst/>
          </a:prstGeom>
          <a:solidFill>
            <a:srgbClr val="E838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1828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386D"/>
                </a:solidFill>
                <a:latin typeface="Neuromax SemB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1945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31315"/>
                </a:solidFill>
                <a:latin typeface="Neuromax SemBd"/>
              </a:rPr>
              <a:t>DIRECCIÓN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697480"/>
            <a:ext cx="219456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Normalizar evita que la diagonal sea más rápida.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1645920"/>
            <a:ext cx="2615184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645920"/>
            <a:ext cx="64008" cy="265176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828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45309"/>
                </a:solidFill>
                <a:latin typeface="Neuromax SemB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945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31315"/>
                </a:solidFill>
                <a:latin typeface="Neuromax SemBd"/>
              </a:rPr>
              <a:t>ÁNGULO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97480"/>
            <a:ext cx="219456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atan2(dy, horizontal) mide la elevación del cubo.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15984" y="1645920"/>
            <a:ext cx="2615184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15984" y="1645920"/>
            <a:ext cx="64008" cy="2651760"/>
          </a:xfrm>
          <a:prstGeom prst="rect">
            <a:avLst/>
          </a:prstGeom>
          <a:solidFill>
            <a:srgbClr val="E838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7152" y="1828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386D"/>
                </a:solidFill>
                <a:latin typeface="Neuromax SemB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21945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31315"/>
                </a:solidFill>
                <a:latin typeface="Neuromax SemBd"/>
              </a:rPr>
              <a:t>PISOTÓN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152" y="2697480"/>
            <a:ext cx="219456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Ángulo mínimo y radio horizontal deben cumplirse juntos.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4663440"/>
            <a:ext cx="11055096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La misma base sirve para persecución: cambiar el objetivo y repetir.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650992"/>
            <a:ext cx="1021384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760720"/>
            <a:ext cx="98755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4F5361"/>
                </a:solidFill>
                <a:latin typeface="Neuromax"/>
              </a:rPr>
              <a:t>Restar, medir, normalizar y sumar son cuatro operaciones para mover un enemigo.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74320"/>
            <a:ext cx="82296" cy="8229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246888"/>
            <a:ext cx="9601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31315"/>
                </a:solidFill>
                <a:latin typeface="Neuromax SemBd"/>
              </a:rPr>
              <a:t>CRÉDITOS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09270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CRÉDITOS Y REFERENCIAS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270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Estos son los créditos y las referencias del tema.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530352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31315"/>
                </a:solidFill>
                <a:latin typeface="Neuromax"/>
              </a:rPr>
              <a:t>Las capturas de Unity 6.3 y VS Code se elaboraron para este curso.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31315"/>
                </a:solidFill>
                <a:latin typeface="Neuromax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31315"/>
                </a:solidFill>
                <a:latin typeface="Neuromax"/>
              </a:rPr>
              <a:t>El proyecto Unity_Intro_3 y el código EnemigoEsfera.cs son material del curso TC2005B.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31315"/>
                </a:solidFill>
                <a:latin typeface="Neuromax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31315"/>
                </a:solidFill>
                <a:latin typeface="Neuromax"/>
              </a:rPr>
              <a:t>La guía del enemigo esfera, las figuras y los diagramas también son material del curso.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737360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31315"/>
                </a:solidFill>
                <a:latin typeface="Neuromax"/>
              </a:rPr>
              <a:t>La documentación de Unity explica Vector3, Mathf.Atan2, Rigidbody e InvokeRepeating.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31315"/>
                </a:solidFill>
                <a:latin typeface="Neuromax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31315"/>
                </a:solidFill>
                <a:latin typeface="Neuromax"/>
              </a:rPr>
              <a:t>Las marcas y herramientas citadas pertenecen a sus dueños y se usan con fines educativos.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383280"/>
            <a:ext cx="11055096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529584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45309"/>
                </a:solidFill>
                <a:latin typeface="Neuromax SemBd"/>
              </a:rPr>
              <a:t>ENLACES DE CONSULTA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803904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F5361"/>
                </a:solidFill>
                <a:latin typeface="Neuromax"/>
              </a:rPr>
              <a:t>https://docs.unity3d.com/ScriptReference/Vector3.html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F5361"/>
                </a:solidFill>
                <a:latin typeface="Neuromax"/>
              </a:rPr>
              <a:t>https://docs.unity3d.com/ScriptReference/Mathf.Atan2.html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F5361"/>
                </a:solidFill>
                <a:latin typeface="Neuromax"/>
              </a:rPr>
              <a:t>https://docs.unity3d.com/ScriptReference/MonoBehaviour.InvokeRepeating.html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892040"/>
            <a:ext cx="11055096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010912"/>
            <a:ext cx="10607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F5361"/>
                </a:solidFill>
                <a:latin typeface="Neuromax"/>
              </a:rPr>
              <a:t>Los enlaces completos también están en las notas del presentador.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828800"/>
            <a:ext cx="1051560" cy="457200"/>
          </a:xfrm>
          <a:prstGeom prst="rect">
            <a:avLst/>
          </a:prstGeom>
        </p:spPr>
      </p:pic>
      <p:pic>
        <p:nvPicPr>
          <p:cNvPr id="4" name="Picture 3" descr="cloud-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731520"/>
            <a:ext cx="1051560" cy="438912"/>
          </a:xfrm>
          <a:prstGeom prst="rect">
            <a:avLst/>
          </a:prstGeom>
        </p:spPr>
      </p:pic>
      <p:pic>
        <p:nvPicPr>
          <p:cNvPr id="5" name="Picture 4" descr="tr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360" y="4343400"/>
            <a:ext cx="960120" cy="1719072"/>
          </a:xfrm>
          <a:prstGeom prst="rect">
            <a:avLst/>
          </a:prstGeom>
        </p:spPr>
      </p:pic>
      <p:pic>
        <p:nvPicPr>
          <p:cNvPr id="6" name="Picture 5" descr="tree-sma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4663440"/>
            <a:ext cx="731520" cy="1115568"/>
          </a:xfrm>
          <a:prstGeom prst="rect">
            <a:avLst/>
          </a:prstGeom>
        </p:spPr>
      </p:pic>
      <p:pic>
        <p:nvPicPr>
          <p:cNvPr id="7" name="Picture 6" descr="mushroo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5532120"/>
            <a:ext cx="502920" cy="301752"/>
          </a:xfrm>
          <a:prstGeom prst="rect">
            <a:avLst/>
          </a:prstGeom>
        </p:spPr>
      </p:pic>
      <p:pic>
        <p:nvPicPr>
          <p:cNvPr id="8" name="Picture 7" descr="che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2560" y="4709160"/>
            <a:ext cx="1645920" cy="868680"/>
          </a:xfrm>
          <a:prstGeom prst="rect">
            <a:avLst/>
          </a:prstGeom>
        </p:spPr>
      </p:pic>
      <p:pic>
        <p:nvPicPr>
          <p:cNvPr id="9" name="Picture 8" descr="st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81360" y="4754880"/>
            <a:ext cx="822960" cy="7863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1874519"/>
            <a:ext cx="12188952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0" b="0" i="0">
                <a:solidFill>
                  <a:srgbClr val="131315"/>
                </a:solidFill>
                <a:latin typeface="Neuromax SemBd"/>
              </a:rPr>
              <a:t>¿PREGUNTAS?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273552"/>
            <a:ext cx="1218895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B293D"/>
                </a:solidFill>
                <a:latin typeface="Neuromax"/>
              </a:rPr>
              <a:t>El siguiente tema es T8.6.2 · Colisiones.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767328"/>
            <a:ext cx="1218895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45309"/>
                </a:solidFill>
                <a:latin typeface="Neuromax SemBd"/>
              </a:rPr>
              <a:t>La esfera ya patrulla; ahora aprende a chocar.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T8.6.1 · Matemáticas básicas para videojuegos</dc:title>
  <dc:subject>Distancia, ángulos con atan2 y vectores en Unity</dc:subject>
  <dc:creator>TC2005B · Construcción de Software</dc:creator>
  <cp:keywords>Unity, matemáticas, atan2, vectores, pisotón, TC2005B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es-MX</dc:language>
</cp:coreProperties>
</file>